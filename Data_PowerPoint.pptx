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77" r:id="rId4"/>
    <p:sldId id="259" r:id="rId5"/>
    <p:sldId id="260" r:id="rId6"/>
    <p:sldId id="280" r:id="rId7"/>
    <p:sldId id="281" r:id="rId8"/>
    <p:sldId id="282" r:id="rId9"/>
    <p:sldId id="278" r:id="rId10"/>
    <p:sldId id="279" r:id="rId11"/>
    <p:sldId id="284" r:id="rId12"/>
    <p:sldId id="288" r:id="rId13"/>
    <p:sldId id="289" r:id="rId14"/>
    <p:sldId id="266" r:id="rId15"/>
    <p:sldId id="263" r:id="rId16"/>
    <p:sldId id="264" r:id="rId17"/>
    <p:sldId id="270" r:id="rId18"/>
    <p:sldId id="267" r:id="rId19"/>
    <p:sldId id="286" r:id="rId20"/>
    <p:sldId id="269" r:id="rId21"/>
    <p:sldId id="271" r:id="rId22"/>
    <p:sldId id="272" r:id="rId23"/>
    <p:sldId id="273" r:id="rId24"/>
    <p:sldId id="274" r:id="rId25"/>
    <p:sldId id="276" r:id="rId26"/>
    <p:sldId id="29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93CE0C-536B-7C6E-0537-BAC9A62A0F96}" v="18" dt="2025-11-20T21:38:22.842"/>
    <p1510:client id="{1F89C326-AF3F-EDBB-9CD7-E153B3CAF6E4}" v="49" dt="2025-11-20T19:44:59.727"/>
    <p1510:client id="{29DC52C2-4471-EB52-4D5E-0FA390ADF78D}" v="63" dt="2025-11-21T13:46:16.866"/>
    <p1510:client id="{4464FE1C-A279-2AC0-450C-3A4F6D43626F}" v="212" dt="2025-11-19T18:27:25.610"/>
    <p1510:client id="{4A42A010-8270-0CB9-3E92-EFA6455CF119}" v="120" dt="2025-11-20T16:15:49.511"/>
    <p1510:client id="{6174C616-9725-1CA2-4D1C-18958ECE799A}" v="275" dt="2025-11-19T18:53:37.332"/>
    <p1510:client id="{78C2D277-E9A5-A3DD-9AB2-01BD7D2FBF5E}" v="113" dt="2025-11-20T20:17:55.631"/>
    <p1510:client id="{78F99CBC-5E80-EDA9-6C67-20758665BB6D}" v="25" dt="2025-11-20T21:34:45.232"/>
    <p1510:client id="{7C9D1C8C-377C-BB1B-7473-A531B5FADA08}" v="276" dt="2025-11-19T22:21:30.638"/>
    <p1510:client id="{7E9AF743-F449-0692-A3FB-CE631562D594}" v="68" dt="2025-11-19T21:14:07.392"/>
    <p1510:client id="{84AFF881-A96F-1FAB-B722-6EB1BD5DF689}" v="92" dt="2025-11-20T21:08:11.984"/>
    <p1510:client id="{8B93C67A-F2C8-68C6-1CDB-E95350FB05E3}" v="46" dt="2025-11-20T15:51:01.498"/>
    <p1510:client id="{94D7B5EE-F089-6411-A745-ED44EB6E53BB}" v="33" dt="2025-11-20T15:44:38.203"/>
    <p1510:client id="{99D2A470-4A53-F08C-85C9-2DDA6C1DA458}" v="45" dt="2025-11-19T20:15:52.861"/>
    <p1510:client id="{9A9EE4C3-A26E-799D-CE55-2F4DAD86BF71}" v="61" dt="2025-11-20T19:29:35.092"/>
    <p1510:client id="{BEF50A31-4811-5B25-3DAC-B94AD8F1BDC3}" v="587" dt="2025-11-20T19:56:17.563"/>
    <p1510:client id="{C1890312-F4BF-5D82-84C3-A47DDFA44D8A}" v="141" dt="2025-11-20T16:51:45.521"/>
    <p1510:client id="{E2396251-AB3A-A0BF-057A-73F4081C2E91}" v="153" dt="2025-11-19T22:14:20.791"/>
    <p1510:client id="{E7D3C7A4-9F1E-E8A8-A62B-3D8BE9FF7B3B}" v="36" dt="2025-11-21T13:28:30.473"/>
    <p1510:client id="{EA7E481D-AE26-22CF-0A21-6E52481976F7}" v="103" dt="2025-11-19T19:39:38.096"/>
    <p1510:client id="{ED19B86C-18F6-11FB-171F-FDA8E1FC52F3}" v="1226" dt="2025-11-19T20:49:35.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11/21/2025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24683031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11/21/2025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40066689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11/21/2025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36769786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11/21/2025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31071721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11/21/2025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47791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11/21/2025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660417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11/21/2025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166087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11/21/2025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93086375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11/21/2025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03417259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11/21/2025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116436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11/21/2025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2159590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11/21/2025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0594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5792" y="1345949"/>
            <a:ext cx="5998000" cy="1433367"/>
          </a:xfrm>
        </p:spPr>
        <p:txBody>
          <a:bodyPr/>
          <a:lstStyle/>
          <a:p>
            <a:pPr algn="ctr"/>
            <a:r>
              <a:rPr lang="en-US" sz="4400" b="1"/>
              <a:t>Shopping Behavior</a:t>
            </a:r>
            <a:br>
              <a:rPr lang="en-US" sz="4400" b="1"/>
            </a:br>
            <a:r>
              <a:rPr lang="en-US" sz="4400" b="1"/>
              <a:t>data-set </a:t>
            </a:r>
            <a:endParaRPr lang="en-US"/>
          </a:p>
        </p:txBody>
      </p:sp>
      <p:sp>
        <p:nvSpPr>
          <p:cNvPr id="3" name="Subtitle 2"/>
          <p:cNvSpPr>
            <a:spLocks noGrp="1"/>
          </p:cNvSpPr>
          <p:nvPr>
            <p:ph type="subTitle" idx="1"/>
          </p:nvPr>
        </p:nvSpPr>
        <p:spPr>
          <a:xfrm>
            <a:off x="716211" y="5130773"/>
            <a:ext cx="4359413" cy="1302774"/>
          </a:xfrm>
        </p:spPr>
        <p:txBody>
          <a:bodyPr>
            <a:normAutofit lnSpcReduction="10000"/>
          </a:bodyPr>
          <a:lstStyle/>
          <a:p>
            <a:endParaRPr lang="en-US" b="1"/>
          </a:p>
          <a:p>
            <a:r>
              <a:rPr lang="en-US" sz="1900" b="1"/>
              <a:t>By Students: </a:t>
            </a:r>
            <a:r>
              <a:rPr lang="en-US" sz="1900" b="1" err="1"/>
              <a:t>Rwaan</a:t>
            </a:r>
            <a:r>
              <a:rPr lang="en-US" sz="1900" b="1"/>
              <a:t> Rashed,</a:t>
            </a:r>
            <a:r>
              <a:rPr lang="en-US" sz="1900"/>
              <a:t> </a:t>
            </a:r>
          </a:p>
          <a:p>
            <a:r>
              <a:rPr lang="en-US" sz="1900" b="1"/>
              <a:t>Moza Ghareeb, Saeed Easa</a:t>
            </a:r>
            <a:endParaRPr lang="en-US"/>
          </a:p>
          <a:p>
            <a:endParaRPr lang="en-US"/>
          </a:p>
        </p:txBody>
      </p:sp>
      <p:sp>
        <p:nvSpPr>
          <p:cNvPr id="5" name="TextBox 4">
            <a:extLst>
              <a:ext uri="{FF2B5EF4-FFF2-40B4-BE49-F238E27FC236}">
                <a16:creationId xmlns:a16="http://schemas.microsoft.com/office/drawing/2014/main" id="{9B4D4A73-7DB1-4265-3476-DCAB1F94E70F}"/>
              </a:ext>
            </a:extLst>
          </p:cNvPr>
          <p:cNvSpPr txBox="1"/>
          <p:nvPr/>
        </p:nvSpPr>
        <p:spPr>
          <a:xfrm>
            <a:off x="302281" y="294268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i="1">
                <a:latin typeface="Calisto MT"/>
              </a:rPr>
              <a:t>CDS 2413</a:t>
            </a:r>
            <a:endParaRPr lang="en-US" b="1" i="1"/>
          </a:p>
        </p:txBody>
      </p:sp>
      <p:pic>
        <p:nvPicPr>
          <p:cNvPr id="6" name="Picture 5" descr="A person holding a magnifying glass&#10;&#10;AI-generated content may be incorrect.">
            <a:extLst>
              <a:ext uri="{FF2B5EF4-FFF2-40B4-BE49-F238E27FC236}">
                <a16:creationId xmlns:a16="http://schemas.microsoft.com/office/drawing/2014/main" id="{628C50BB-111B-8105-D839-5FAA4472ECD9}"/>
              </a:ext>
            </a:extLst>
          </p:cNvPr>
          <p:cNvPicPr>
            <a:picLocks noChangeAspect="1"/>
          </p:cNvPicPr>
          <p:nvPr/>
        </p:nvPicPr>
        <p:blipFill>
          <a:blip r:embed="rId2"/>
          <a:srcRect t="1642" b="1460"/>
          <a:stretch>
            <a:fillRect/>
          </a:stretch>
        </p:blipFill>
        <p:spPr>
          <a:xfrm>
            <a:off x="6585188" y="876024"/>
            <a:ext cx="4957870" cy="5115794"/>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BDEA-A82F-B251-B20A-B2AB75F7E454}"/>
              </a:ext>
            </a:extLst>
          </p:cNvPr>
          <p:cNvSpPr>
            <a:spLocks noGrp="1"/>
          </p:cNvSpPr>
          <p:nvPr>
            <p:ph type="title"/>
          </p:nvPr>
        </p:nvSpPr>
        <p:spPr/>
        <p:txBody>
          <a:bodyPr/>
          <a:lstStyle/>
          <a:p>
            <a:r>
              <a:rPr lang="en-US" b="1" dirty="0">
                <a:ea typeface="+mj-lt"/>
                <a:cs typeface="+mj-lt"/>
              </a:rPr>
              <a:t>Purpose of Analyzing  the Shopping Behavior Dataset:</a:t>
            </a:r>
            <a:endParaRPr lang="en-US" dirty="0"/>
          </a:p>
          <a:p>
            <a:pPr marL="285750" indent="-285750">
              <a:buFont typeface="Arial"/>
              <a:buChar char="•"/>
            </a:pPr>
            <a:endParaRPr lang="en-US"/>
          </a:p>
          <a:p>
            <a:endParaRPr lang="en-US"/>
          </a:p>
        </p:txBody>
      </p:sp>
      <p:sp>
        <p:nvSpPr>
          <p:cNvPr id="3" name="Content Placeholder 2">
            <a:extLst>
              <a:ext uri="{FF2B5EF4-FFF2-40B4-BE49-F238E27FC236}">
                <a16:creationId xmlns:a16="http://schemas.microsoft.com/office/drawing/2014/main" id="{C23EA33F-1E63-EE2A-E3C7-9EB26EE5A7D8}"/>
              </a:ext>
            </a:extLst>
          </p:cNvPr>
          <p:cNvSpPr>
            <a:spLocks noGrp="1"/>
          </p:cNvSpPr>
          <p:nvPr>
            <p:ph idx="1"/>
          </p:nvPr>
        </p:nvSpPr>
        <p:spPr>
          <a:xfrm>
            <a:off x="492817" y="2576515"/>
            <a:ext cx="11207661" cy="3636088"/>
          </a:xfrm>
        </p:spPr>
        <p:txBody>
          <a:bodyPr vert="horz" lIns="91440" tIns="45720" rIns="91440" bIns="45720" rtlCol="0" anchor="t">
            <a:normAutofit/>
          </a:bodyPr>
          <a:lstStyle/>
          <a:p>
            <a:r>
              <a:rPr lang="en-US">
                <a:ea typeface="+mn-lt"/>
                <a:cs typeface="+mn-lt"/>
              </a:rPr>
              <a:t>The outputs helped us understand how customers behave in the </a:t>
            </a:r>
            <a:r>
              <a:rPr lang="en-US" b="1">
                <a:ea typeface="+mn-lt"/>
                <a:cs typeface="+mn-lt"/>
              </a:rPr>
              <a:t>Shopping Behavior dataset</a:t>
            </a:r>
            <a:r>
              <a:rPr lang="en-US">
                <a:ea typeface="+mn-lt"/>
                <a:cs typeface="+mn-lt"/>
              </a:rPr>
              <a:t>.</a:t>
            </a:r>
            <a:endParaRPr lang="en-US"/>
          </a:p>
          <a:p>
            <a:endParaRPr lang="en-US">
              <a:ea typeface="+mn-lt"/>
              <a:cs typeface="+mn-lt"/>
            </a:endParaRPr>
          </a:p>
          <a:p>
            <a:r>
              <a:rPr lang="en-US">
                <a:ea typeface="+mn-lt"/>
                <a:cs typeface="+mn-lt"/>
              </a:rPr>
              <a:t>Results showed patterns in how customers shop, spend, and interact with features like age, gender, and previous purchases.</a:t>
            </a:r>
            <a:endParaRPr lang="en-US"/>
          </a:p>
          <a:p>
            <a:endParaRPr lang="en-US">
              <a:ea typeface="+mn-lt"/>
              <a:cs typeface="+mn-lt"/>
            </a:endParaRPr>
          </a:p>
          <a:p>
            <a:r>
              <a:rPr lang="en-US">
                <a:ea typeface="+mn-lt"/>
                <a:cs typeface="+mn-lt"/>
              </a:rPr>
              <a:t>The outputs helped us see what affects spending and how customers in the dataset behave differently.</a:t>
            </a:r>
            <a:endParaRPr lang="en-US"/>
          </a:p>
          <a:p>
            <a:pPr marL="0" indent="0">
              <a:buNone/>
            </a:pPr>
            <a:endParaRPr lang="en-US"/>
          </a:p>
        </p:txBody>
      </p:sp>
    </p:spTree>
    <p:extLst>
      <p:ext uri="{BB962C8B-B14F-4D97-AF65-F5344CB8AC3E}">
        <p14:creationId xmlns:p14="http://schemas.microsoft.com/office/powerpoint/2010/main" val="476371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E609-C7BB-3E00-502C-A60EADC17443}"/>
              </a:ext>
            </a:extLst>
          </p:cNvPr>
          <p:cNvSpPr>
            <a:spLocks noGrp="1"/>
          </p:cNvSpPr>
          <p:nvPr>
            <p:ph type="title"/>
          </p:nvPr>
        </p:nvSpPr>
        <p:spPr>
          <a:xfrm>
            <a:off x="713229" y="1029154"/>
            <a:ext cx="10691265" cy="1371030"/>
          </a:xfrm>
        </p:spPr>
        <p:txBody>
          <a:bodyPr/>
          <a:lstStyle/>
          <a:p>
            <a:pPr algn="ctr"/>
            <a:r>
              <a:rPr lang="en-US" b="1"/>
              <a:t>Using python for data analysis:</a:t>
            </a:r>
            <a:endParaRPr lang="en-US"/>
          </a:p>
          <a:p>
            <a:endParaRPr lang="en-US"/>
          </a:p>
        </p:txBody>
      </p:sp>
      <p:sp>
        <p:nvSpPr>
          <p:cNvPr id="3" name="Content Placeholder 2">
            <a:extLst>
              <a:ext uri="{FF2B5EF4-FFF2-40B4-BE49-F238E27FC236}">
                <a16:creationId xmlns:a16="http://schemas.microsoft.com/office/drawing/2014/main" id="{53356F60-3482-0017-55E3-71EBBD9BF971}"/>
              </a:ext>
            </a:extLst>
          </p:cNvPr>
          <p:cNvSpPr>
            <a:spLocks noGrp="1"/>
          </p:cNvSpPr>
          <p:nvPr>
            <p:ph idx="1"/>
          </p:nvPr>
        </p:nvSpPr>
        <p:spPr>
          <a:xfrm>
            <a:off x="713230" y="2400184"/>
            <a:ext cx="10691265" cy="3636088"/>
          </a:xfrm>
        </p:spPr>
        <p:txBody>
          <a:bodyPr vert="horz" lIns="91440" tIns="45720" rIns="91440" bIns="45720" rtlCol="0" anchor="t">
            <a:normAutofit/>
          </a:bodyPr>
          <a:lstStyle/>
          <a:p>
            <a:pPr marL="342900" indent="-342900" algn="ctr"/>
            <a:r>
              <a:rPr lang="en-US">
                <a:ea typeface="+mn-lt"/>
                <a:cs typeface="+mn-lt"/>
              </a:rPr>
              <a:t>Python allowed us to clean, analyze, and explore the shopping behavior dataset easily. </a:t>
            </a:r>
          </a:p>
          <a:p>
            <a:pPr marL="342900" indent="-342900" algn="ctr"/>
            <a:r>
              <a:rPr lang="en-US">
                <a:ea typeface="+mn-lt"/>
                <a:cs typeface="+mn-lt"/>
              </a:rPr>
              <a:t>We used it to check the data, calculate statistics, create graphs, and build machine-learning models. </a:t>
            </a:r>
          </a:p>
          <a:p>
            <a:pPr marL="342900" indent="-342900" algn="ctr"/>
            <a:r>
              <a:rPr lang="en-US">
                <a:ea typeface="+mn-lt"/>
                <a:cs typeface="+mn-lt"/>
              </a:rPr>
              <a:t>The outputs helped us clearly see how customers shop by showing the patterns, differences, and relationships inside the dataset.</a:t>
            </a:r>
            <a:endParaRPr lang="en-US"/>
          </a:p>
        </p:txBody>
      </p:sp>
      <p:sp>
        <p:nvSpPr>
          <p:cNvPr id="4" name="Date Placeholder 3">
            <a:extLst>
              <a:ext uri="{FF2B5EF4-FFF2-40B4-BE49-F238E27FC236}">
                <a16:creationId xmlns:a16="http://schemas.microsoft.com/office/drawing/2014/main" id="{B01B4B54-36B2-4D35-AEAF-A615E7B55035}"/>
              </a:ext>
            </a:extLst>
          </p:cNvPr>
          <p:cNvSpPr>
            <a:spLocks noGrp="1"/>
          </p:cNvSpPr>
          <p:nvPr>
            <p:ph type="dt" sz="half" idx="10"/>
          </p:nvPr>
        </p:nvSpPr>
        <p:spPr/>
        <p:txBody>
          <a:bodyPr/>
          <a:lstStyle/>
          <a:p>
            <a:fld id="{DA20FF59-CA00-4E9D-8000-8E79F5F456F1}" type="datetime1">
              <a:t>11/21/2025</a:t>
            </a:fld>
            <a:endParaRPr lang="en-US"/>
          </a:p>
        </p:txBody>
      </p:sp>
      <p:sp>
        <p:nvSpPr>
          <p:cNvPr id="5" name="Footer Placeholder 4">
            <a:extLst>
              <a:ext uri="{FF2B5EF4-FFF2-40B4-BE49-F238E27FC236}">
                <a16:creationId xmlns:a16="http://schemas.microsoft.com/office/drawing/2014/main" id="{A5921E69-8691-1A25-DEFC-5385E58B88EF}"/>
              </a:ext>
            </a:extLst>
          </p:cNvPr>
          <p:cNvSpPr>
            <a:spLocks noGrp="1"/>
          </p:cNvSpPr>
          <p:nvPr>
            <p:ph type="ftr" sz="quarter" idx="11"/>
          </p:nvPr>
        </p:nvSpPr>
        <p:spPr/>
        <p:txBody>
          <a:bodyPr/>
          <a:lstStyle/>
          <a:p>
            <a:r>
              <a:rPr lang="en-US"/>
              <a:t>
              </a:t>
            </a:r>
          </a:p>
        </p:txBody>
      </p:sp>
      <p:sp>
        <p:nvSpPr>
          <p:cNvPr id="6" name="Rectangle 5">
            <a:extLst>
              <a:ext uri="{FF2B5EF4-FFF2-40B4-BE49-F238E27FC236}">
                <a16:creationId xmlns:a16="http://schemas.microsoft.com/office/drawing/2014/main" id="{776E52D0-562C-CA37-52C6-D00AD413C590}"/>
              </a:ext>
            </a:extLst>
          </p:cNvPr>
          <p:cNvSpPr/>
          <p:nvPr/>
        </p:nvSpPr>
        <p:spPr>
          <a:xfrm>
            <a:off x="10137321" y="6272892"/>
            <a:ext cx="1374321" cy="4762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2383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4CDC-0719-425E-97DD-D4E1033C7D16}"/>
              </a:ext>
            </a:extLst>
          </p:cNvPr>
          <p:cNvSpPr>
            <a:spLocks noGrp="1"/>
          </p:cNvSpPr>
          <p:nvPr>
            <p:ph type="title"/>
          </p:nvPr>
        </p:nvSpPr>
        <p:spPr>
          <a:xfrm>
            <a:off x="89776" y="109716"/>
            <a:ext cx="12731660" cy="1371030"/>
          </a:xfrm>
        </p:spPr>
        <p:txBody>
          <a:bodyPr/>
          <a:lstStyle/>
          <a:p>
            <a:pPr algn="ctr"/>
            <a:r>
              <a:rPr lang="en-US" b="1">
                <a:ea typeface="+mj-lt"/>
                <a:cs typeface="+mj-lt"/>
              </a:rPr>
              <a:t>Independent &amp; Dependent Variables</a:t>
            </a:r>
            <a:endParaRPr lang="en-US"/>
          </a:p>
          <a:p>
            <a:pPr marL="285750" indent="-285750">
              <a:buFont typeface="Arial"/>
              <a:buChar char="•"/>
            </a:pPr>
            <a:endParaRPr lang="en-US"/>
          </a:p>
          <a:p>
            <a:endParaRPr lang="en-US"/>
          </a:p>
        </p:txBody>
      </p:sp>
      <p:sp>
        <p:nvSpPr>
          <p:cNvPr id="3" name="Content Placeholder 2">
            <a:extLst>
              <a:ext uri="{FF2B5EF4-FFF2-40B4-BE49-F238E27FC236}">
                <a16:creationId xmlns:a16="http://schemas.microsoft.com/office/drawing/2014/main" id="{93032036-06B0-146A-FCEF-85061022F369}"/>
              </a:ext>
            </a:extLst>
          </p:cNvPr>
          <p:cNvSpPr>
            <a:spLocks noGrp="1"/>
          </p:cNvSpPr>
          <p:nvPr>
            <p:ph idx="1"/>
          </p:nvPr>
        </p:nvSpPr>
        <p:spPr>
          <a:xfrm>
            <a:off x="908453" y="1058811"/>
            <a:ext cx="10376389" cy="4448468"/>
          </a:xfrm>
        </p:spPr>
        <p:txBody>
          <a:bodyPr vert="horz" lIns="91440" tIns="45720" rIns="91440" bIns="45720" rtlCol="0" anchor="t">
            <a:noAutofit/>
          </a:bodyPr>
          <a:lstStyle/>
          <a:p>
            <a:pPr marL="0" indent="0" algn="ctr">
              <a:buNone/>
            </a:pPr>
            <a:r>
              <a:rPr lang="en-US" sz="1600" b="1"/>
              <a:t>Dependent Variable (Target)</a:t>
            </a:r>
          </a:p>
          <a:p>
            <a:pPr marL="0" indent="0" algn="ctr">
              <a:buNone/>
            </a:pPr>
            <a:r>
              <a:rPr lang="en-US" sz="1600" b="1">
                <a:ea typeface="+mn-lt"/>
                <a:cs typeface="+mn-lt"/>
              </a:rPr>
              <a:t>Our target depends on the type of the analysis:</a:t>
            </a:r>
            <a:endParaRPr lang="en-US" sz="1600" b="1"/>
          </a:p>
          <a:p>
            <a:pPr algn="ctr"/>
            <a:r>
              <a:rPr lang="en-US" sz="1600" b="1">
                <a:ea typeface="+mn-lt"/>
                <a:cs typeface="+mn-lt"/>
              </a:rPr>
              <a:t>Purchase Amount (USD) : if we are predicting how much a customer will spend (regression).</a:t>
            </a:r>
            <a:endParaRPr lang="en-US" sz="1600" b="1"/>
          </a:p>
          <a:p>
            <a:pPr algn="ctr"/>
            <a:r>
              <a:rPr lang="en-US" sz="1600" b="1"/>
              <a:t>Frequency of Purchases : if we are predicting how often a customer shops (classification).</a:t>
            </a:r>
          </a:p>
          <a:p>
            <a:pPr marL="0" indent="0" algn="ctr">
              <a:buNone/>
            </a:pPr>
            <a:endParaRPr lang="en-US" sz="1600" b="1"/>
          </a:p>
          <a:p>
            <a:pPr marL="0" indent="0" algn="ctr">
              <a:buNone/>
            </a:pPr>
            <a:r>
              <a:rPr lang="en-US" sz="1600" b="1"/>
              <a:t>Independent Variables (Features)</a:t>
            </a:r>
          </a:p>
          <a:p>
            <a:pPr marL="0" indent="0" algn="ctr">
              <a:buNone/>
            </a:pPr>
            <a:r>
              <a:rPr lang="en-US" sz="1600" b="1">
                <a:ea typeface="+mn-lt"/>
                <a:cs typeface="+mn-lt"/>
              </a:rPr>
              <a:t>The features we use to predict the target come from different parts of the customer profile:</a:t>
            </a:r>
            <a:endParaRPr lang="en-US" sz="1600"/>
          </a:p>
          <a:p>
            <a:pPr marL="0" indent="0">
              <a:buNone/>
            </a:pPr>
            <a:endParaRPr lang="en-US" sz="1200" b="1"/>
          </a:p>
          <a:p>
            <a:pPr marL="0" indent="0">
              <a:buNone/>
            </a:pPr>
            <a:endParaRPr lang="en-US" sz="1200" b="1">
              <a:ea typeface="+mn-lt"/>
              <a:cs typeface="+mn-lt"/>
            </a:endParaRPr>
          </a:p>
          <a:p>
            <a:pPr marL="0" indent="0">
              <a:buNone/>
            </a:pPr>
            <a:endParaRPr lang="en-US" sz="1200" b="1">
              <a:ea typeface="+mn-lt"/>
              <a:cs typeface="+mn-lt"/>
            </a:endParaRPr>
          </a:p>
          <a:p>
            <a:pPr marL="0" indent="0">
              <a:buNone/>
            </a:pPr>
            <a:endParaRPr lang="en-US" sz="1200" b="1">
              <a:ea typeface="+mn-lt"/>
              <a:cs typeface="+mn-lt"/>
            </a:endParaRPr>
          </a:p>
          <a:p>
            <a:pPr marL="0" indent="0">
              <a:buNone/>
            </a:pPr>
            <a:endParaRPr lang="en-US" sz="1200" b="1">
              <a:ea typeface="+mn-lt"/>
              <a:cs typeface="+mn-lt"/>
            </a:endParaRPr>
          </a:p>
          <a:p>
            <a:pPr marL="0" indent="0">
              <a:buNone/>
            </a:pPr>
            <a:endParaRPr lang="en-US" sz="1200" b="1">
              <a:ea typeface="+mn-lt"/>
              <a:cs typeface="+mn-lt"/>
            </a:endParaRPr>
          </a:p>
          <a:p>
            <a:pPr marL="0" indent="0">
              <a:buNone/>
            </a:pPr>
            <a:endParaRPr lang="en-US"/>
          </a:p>
        </p:txBody>
      </p:sp>
      <p:sp>
        <p:nvSpPr>
          <p:cNvPr id="5" name="Rectangle: Rounded Corners 4">
            <a:extLst>
              <a:ext uri="{FF2B5EF4-FFF2-40B4-BE49-F238E27FC236}">
                <a16:creationId xmlns:a16="http://schemas.microsoft.com/office/drawing/2014/main" id="{9B5DB71F-58B6-A69A-4EF7-94A8DBA31331}"/>
              </a:ext>
            </a:extLst>
          </p:cNvPr>
          <p:cNvSpPr/>
          <p:nvPr/>
        </p:nvSpPr>
        <p:spPr>
          <a:xfrm>
            <a:off x="9440067" y="4126862"/>
            <a:ext cx="2559497" cy="165696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ts val="1125"/>
              </a:lnSpc>
            </a:pPr>
            <a:r>
              <a:rPr lang="en-US" sz="1400" b="1"/>
              <a:t>Demographics: </a:t>
            </a:r>
            <a:endParaRPr lang="en-US" sz="1400" b="1">
              <a:solidFill>
                <a:srgbClr val="000000"/>
              </a:solidFill>
            </a:endParaRPr>
          </a:p>
          <a:p>
            <a:pPr algn="ctr">
              <a:lnSpc>
                <a:spcPts val="1125"/>
              </a:lnSpc>
            </a:pPr>
            <a:r>
              <a:rPr lang="en-US" sz="1400" b="1"/>
              <a:t> </a:t>
            </a:r>
            <a:br>
              <a:rPr lang="en-US" sz="1400" b="1"/>
            </a:br>
            <a:r>
              <a:rPr lang="en-US" sz="1400" b="1"/>
              <a:t>Age, Gender, Location </a:t>
            </a:r>
          </a:p>
        </p:txBody>
      </p:sp>
      <p:sp>
        <p:nvSpPr>
          <p:cNvPr id="6" name="Rectangle: Rounded Corners 5">
            <a:extLst>
              <a:ext uri="{FF2B5EF4-FFF2-40B4-BE49-F238E27FC236}">
                <a16:creationId xmlns:a16="http://schemas.microsoft.com/office/drawing/2014/main" id="{BFC37C56-6023-DCE4-5C71-76CE94580989}"/>
              </a:ext>
            </a:extLst>
          </p:cNvPr>
          <p:cNvSpPr/>
          <p:nvPr/>
        </p:nvSpPr>
        <p:spPr>
          <a:xfrm>
            <a:off x="415720" y="4126861"/>
            <a:ext cx="2660257" cy="165696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ts val="1125"/>
              </a:lnSpc>
            </a:pPr>
            <a:r>
              <a:rPr lang="en-US" sz="1200" b="1">
                <a:latin typeface="Calisto MT"/>
                <a:ea typeface="Calibri"/>
                <a:cs typeface="Calibri"/>
              </a:rPr>
              <a:t>Shopping Behavior :</a:t>
            </a:r>
          </a:p>
          <a:p>
            <a:pPr algn="ctr">
              <a:lnSpc>
                <a:spcPts val="1125"/>
              </a:lnSpc>
            </a:pPr>
            <a:br>
              <a:rPr lang="en-US" sz="1200" b="1"/>
            </a:br>
            <a:r>
              <a:rPr lang="en-US" sz="1200" b="1">
                <a:latin typeface="Calisto MT"/>
                <a:ea typeface="Calibri"/>
                <a:cs typeface="Calibri"/>
              </a:rPr>
              <a:t>Previous Purchases, Subscription Status, Discounts Applied, Promo Code Used.</a:t>
            </a:r>
          </a:p>
        </p:txBody>
      </p:sp>
      <p:sp>
        <p:nvSpPr>
          <p:cNvPr id="7" name="Rectangle: Rounded Corners 6">
            <a:extLst>
              <a:ext uri="{FF2B5EF4-FFF2-40B4-BE49-F238E27FC236}">
                <a16:creationId xmlns:a16="http://schemas.microsoft.com/office/drawing/2014/main" id="{F30EC81B-DC3F-3E9E-573A-F401F4CB6CE7}"/>
              </a:ext>
            </a:extLst>
          </p:cNvPr>
          <p:cNvSpPr/>
          <p:nvPr/>
        </p:nvSpPr>
        <p:spPr>
          <a:xfrm>
            <a:off x="6455040" y="4126860"/>
            <a:ext cx="2653960" cy="165696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ts val="788"/>
              </a:lnSpc>
            </a:pPr>
            <a:r>
              <a:rPr lang="en-US" sz="1200" b="1">
                <a:solidFill>
                  <a:srgbClr val="FFFFFF"/>
                </a:solidFill>
                <a:latin typeface="Calisto MT"/>
                <a:ea typeface="Segoe UI"/>
                <a:cs typeface="Segoe UI"/>
              </a:rPr>
              <a:t>Transaction Details​:</a:t>
            </a:r>
            <a:r>
              <a:rPr lang="en-US" sz="1200" b="1">
                <a:latin typeface="Calisto MT"/>
                <a:ea typeface="Segoe UI"/>
                <a:cs typeface="Segoe UI"/>
              </a:rPr>
              <a:t>​</a:t>
            </a:r>
          </a:p>
          <a:p>
            <a:pPr algn="ctr">
              <a:lnSpc>
                <a:spcPts val="788"/>
              </a:lnSpc>
            </a:pPr>
            <a:br>
              <a:rPr lang="en-US" sz="1200" b="1">
                <a:latin typeface="Calisto MT"/>
                <a:ea typeface="Segoe UI"/>
                <a:cs typeface="Segoe UI"/>
              </a:rPr>
            </a:br>
            <a:r>
              <a:rPr lang="en-US" sz="1200" b="1">
                <a:solidFill>
                  <a:srgbClr val="FFFFFF"/>
                </a:solidFill>
                <a:latin typeface="Calisto MT"/>
                <a:ea typeface="Segoe UI"/>
                <a:cs typeface="Segoe UI"/>
              </a:rPr>
              <a:t>Payment Method, Shipping Type</a:t>
            </a:r>
            <a:r>
              <a:rPr lang="en-US" sz="1200" b="1">
                <a:latin typeface="Calisto MT"/>
                <a:ea typeface="Segoe UI"/>
                <a:cs typeface="Segoe UI"/>
              </a:rPr>
              <a:t>​</a:t>
            </a:r>
            <a:endParaRPr lang="en-US" sz="1200" b="1"/>
          </a:p>
          <a:p>
            <a:pPr rtl="0">
              <a:lnSpc>
                <a:spcPts val="788"/>
              </a:lnSpc>
            </a:pPr>
            <a:r>
              <a:rPr lang="en-US" sz="1400" b="1">
                <a:latin typeface="Calisto MT"/>
                <a:ea typeface="Segoe UI"/>
                <a:cs typeface="Segoe UI"/>
              </a:rPr>
              <a:t>​</a:t>
            </a:r>
            <a:endParaRPr lang="en-US" sz="1400" b="1"/>
          </a:p>
        </p:txBody>
      </p:sp>
      <p:sp>
        <p:nvSpPr>
          <p:cNvPr id="8" name="Rectangle: Rounded Corners 7">
            <a:extLst>
              <a:ext uri="{FF2B5EF4-FFF2-40B4-BE49-F238E27FC236}">
                <a16:creationId xmlns:a16="http://schemas.microsoft.com/office/drawing/2014/main" id="{A5E40767-8FBD-D57B-0CB7-3A99C4552947}"/>
              </a:ext>
            </a:extLst>
          </p:cNvPr>
          <p:cNvSpPr/>
          <p:nvPr/>
        </p:nvSpPr>
        <p:spPr>
          <a:xfrm>
            <a:off x="3463719" y="4126860"/>
            <a:ext cx="2653960" cy="165696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ts val="1125"/>
              </a:lnSpc>
            </a:pPr>
            <a:r>
              <a:rPr lang="en-US" sz="1200" b="1">
                <a:solidFill>
                  <a:srgbClr val="FFFFFF"/>
                </a:solidFill>
                <a:latin typeface="Calisto MT"/>
              </a:rPr>
              <a:t>Product Details​:</a:t>
            </a:r>
            <a:r>
              <a:rPr lang="en-US" sz="1200" b="1">
                <a:latin typeface="Calisto MT"/>
                <a:ea typeface="Calisto MT"/>
                <a:cs typeface="Calisto MT"/>
              </a:rPr>
              <a:t>​</a:t>
            </a:r>
          </a:p>
          <a:p>
            <a:pPr algn="ctr">
              <a:lnSpc>
                <a:spcPts val="1125"/>
              </a:lnSpc>
            </a:pPr>
            <a:br>
              <a:rPr lang="en-US" sz="1200" b="1">
                <a:latin typeface="Calisto MT"/>
                <a:ea typeface="Calisto MT"/>
                <a:cs typeface="Calisto MT"/>
              </a:rPr>
            </a:br>
            <a:r>
              <a:rPr lang="en-US" sz="1200" b="1">
                <a:solidFill>
                  <a:srgbClr val="FFFFFF"/>
                </a:solidFill>
                <a:latin typeface="Calisto MT"/>
              </a:rPr>
              <a:t>Category, Size, Season, Review Rating​</a:t>
            </a:r>
            <a:endParaRPr lang="en-US" sz="1200" b="1"/>
          </a:p>
        </p:txBody>
      </p:sp>
    </p:spTree>
    <p:extLst>
      <p:ext uri="{BB962C8B-B14F-4D97-AF65-F5344CB8AC3E}">
        <p14:creationId xmlns:p14="http://schemas.microsoft.com/office/powerpoint/2010/main" val="3933210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17521-0D43-6A33-C038-43E05ADE6761}"/>
              </a:ext>
            </a:extLst>
          </p:cNvPr>
          <p:cNvSpPr>
            <a:spLocks noGrp="1"/>
          </p:cNvSpPr>
          <p:nvPr>
            <p:ph type="title"/>
          </p:nvPr>
        </p:nvSpPr>
        <p:spPr/>
        <p:txBody>
          <a:bodyPr>
            <a:normAutofit/>
          </a:bodyPr>
          <a:lstStyle/>
          <a:p>
            <a:pPr algn="ctr"/>
            <a:r>
              <a:rPr lang="en-US" b="1">
                <a:ea typeface="+mj-lt"/>
                <a:cs typeface="+mj-lt"/>
              </a:rPr>
              <a:t>Sampling:  Type &amp; Justification</a:t>
            </a:r>
            <a:endParaRPr lang="en-US" b="1"/>
          </a:p>
          <a:p>
            <a:endParaRPr lang="en-US" b="1"/>
          </a:p>
        </p:txBody>
      </p:sp>
      <p:sp>
        <p:nvSpPr>
          <p:cNvPr id="5" name="Content Placeholder 4">
            <a:extLst>
              <a:ext uri="{FF2B5EF4-FFF2-40B4-BE49-F238E27FC236}">
                <a16:creationId xmlns:a16="http://schemas.microsoft.com/office/drawing/2014/main" id="{F73E652C-A6F5-E3E8-D295-EAEE5C980ECC}"/>
              </a:ext>
            </a:extLst>
          </p:cNvPr>
          <p:cNvSpPr>
            <a:spLocks noGrp="1"/>
          </p:cNvSpPr>
          <p:nvPr>
            <p:ph idx="1"/>
          </p:nvPr>
        </p:nvSpPr>
        <p:spPr>
          <a:xfrm>
            <a:off x="700635" y="1732647"/>
            <a:ext cx="10691265" cy="4196567"/>
          </a:xfrm>
        </p:spPr>
        <p:txBody>
          <a:bodyPr vert="horz" lIns="91440" tIns="45720" rIns="91440" bIns="45720" rtlCol="0" anchor="t">
            <a:normAutofit/>
          </a:bodyPr>
          <a:lstStyle/>
          <a:p>
            <a:pPr marL="0" indent="0">
              <a:buNone/>
            </a:pPr>
            <a:r>
              <a:rPr lang="en-US" sz="1400" b="1"/>
              <a:t>Sampling Type: Stratified Random Sampling:</a:t>
            </a:r>
          </a:p>
          <a:p>
            <a:r>
              <a:rPr lang="en-US" sz="1400" b="1">
                <a:ea typeface="+mn-lt"/>
                <a:cs typeface="+mn-lt"/>
              </a:rPr>
              <a:t>Dataset was divided into groups based on Gender and Purchase Frequency.</a:t>
            </a:r>
            <a:endParaRPr lang="en-US" sz="1400" b="1"/>
          </a:p>
          <a:p>
            <a:r>
              <a:rPr lang="en-US" sz="1400" b="1">
                <a:ea typeface="+mn-lt"/>
                <a:cs typeface="+mn-lt"/>
              </a:rPr>
              <a:t>Samples were selected proportionally from each group.</a:t>
            </a:r>
            <a:endParaRPr lang="en-US" sz="1400" b="1"/>
          </a:p>
          <a:p>
            <a:r>
              <a:rPr lang="en-US" sz="1400" b="1">
                <a:ea typeface="+mn-lt"/>
                <a:cs typeface="+mn-lt"/>
              </a:rPr>
              <a:t>Resulted in a 1000-row sample that keeps the same Male/Female and shopping frequency ratios as the full 3,900-row dataset.</a:t>
            </a:r>
            <a:endParaRPr lang="en-US" sz="1400" b="1"/>
          </a:p>
          <a:p>
            <a:pPr marL="0" indent="0">
              <a:buNone/>
            </a:pPr>
            <a:endParaRPr lang="en-US" sz="1400" b="1"/>
          </a:p>
          <a:p>
            <a:pPr marL="0" indent="0">
              <a:buNone/>
            </a:pPr>
            <a:r>
              <a:rPr lang="en-US" sz="1400" b="1"/>
              <a:t>Why Stratified Sampling Was Used:</a:t>
            </a:r>
          </a:p>
          <a:p>
            <a:r>
              <a:rPr lang="en-US" sz="1400" b="1">
                <a:ea typeface="+mn-lt"/>
                <a:cs typeface="+mn-lt"/>
              </a:rPr>
              <a:t>Diverse Customers</a:t>
            </a:r>
            <a:br>
              <a:rPr lang="en-US" sz="1400" b="1">
                <a:ea typeface="+mn-lt"/>
                <a:cs typeface="+mn-lt"/>
              </a:rPr>
            </a:br>
            <a:r>
              <a:rPr lang="en-US" sz="1400" b="1">
                <a:ea typeface="+mn-lt"/>
                <a:cs typeface="+mn-lt"/>
              </a:rPr>
              <a:t> Ensures all shopper groups (male/female, frequent/occasional) are included.</a:t>
            </a:r>
            <a:endParaRPr lang="en-US" sz="1400" b="1"/>
          </a:p>
          <a:p>
            <a:r>
              <a:rPr lang="en-US" sz="1400" b="1">
                <a:ea typeface="+mn-lt"/>
                <a:cs typeface="+mn-lt"/>
              </a:rPr>
              <a:t>Prevents Bias</a:t>
            </a:r>
            <a:br>
              <a:rPr lang="en-US" sz="1400" b="1">
                <a:ea typeface="+mn-lt"/>
                <a:cs typeface="+mn-lt"/>
              </a:rPr>
            </a:br>
            <a:r>
              <a:rPr lang="en-US" sz="1400" b="1">
                <a:ea typeface="+mn-lt"/>
                <a:cs typeface="+mn-lt"/>
              </a:rPr>
              <a:t> Keeps the same proportions as the full dataset and avoids over-selecting one type of shopper.</a:t>
            </a:r>
            <a:endParaRPr lang="en-US" sz="1400" b="1"/>
          </a:p>
          <a:p>
            <a:r>
              <a:rPr lang="en-US" sz="1400" b="1">
                <a:ea typeface="+mn-lt"/>
                <a:cs typeface="+mn-lt"/>
              </a:rPr>
              <a:t>Better Accuracy</a:t>
            </a:r>
            <a:br>
              <a:rPr lang="en-US" sz="1400" b="1">
                <a:ea typeface="+mn-lt"/>
                <a:cs typeface="+mn-lt"/>
              </a:rPr>
            </a:br>
            <a:r>
              <a:rPr lang="en-US" sz="1400" b="1">
                <a:ea typeface="+mn-lt"/>
                <a:cs typeface="+mn-lt"/>
              </a:rPr>
              <a:t> Since behavior depends on age, gender, and frequency, this method gives more reliable and general results.</a:t>
            </a:r>
            <a:endParaRPr lang="en-US" sz="1400" b="1"/>
          </a:p>
          <a:p>
            <a:pPr marL="0" indent="0">
              <a:buNone/>
            </a:pPr>
            <a:endParaRPr lang="en-US" sz="1900" b="1"/>
          </a:p>
          <a:p>
            <a:endParaRPr lang="en-US" b="1"/>
          </a:p>
        </p:txBody>
      </p:sp>
    </p:spTree>
    <p:extLst>
      <p:ext uri="{BB962C8B-B14F-4D97-AF65-F5344CB8AC3E}">
        <p14:creationId xmlns:p14="http://schemas.microsoft.com/office/powerpoint/2010/main" val="1411125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8486-D118-2C7D-7525-ED32C0C40BA1}"/>
              </a:ext>
            </a:extLst>
          </p:cNvPr>
          <p:cNvSpPr>
            <a:spLocks noGrp="1"/>
          </p:cNvSpPr>
          <p:nvPr>
            <p:ph type="title"/>
          </p:nvPr>
        </p:nvSpPr>
        <p:spPr>
          <a:xfrm>
            <a:off x="977063" y="357213"/>
            <a:ext cx="10693363" cy="1739456"/>
          </a:xfrm>
        </p:spPr>
        <p:txBody>
          <a:bodyPr vert="horz" lIns="91440" tIns="45720" rIns="91440" bIns="45720" rtlCol="0" anchor="b">
            <a:noAutofit/>
          </a:bodyPr>
          <a:lstStyle/>
          <a:p>
            <a:endParaRPr lang="en-US"/>
          </a:p>
          <a:p>
            <a:endParaRPr lang="en-US"/>
          </a:p>
          <a:p>
            <a:endParaRPr lang="en-US"/>
          </a:p>
          <a:p>
            <a:r>
              <a:rPr lang="en-US" sz="2400" b="1" dirty="0"/>
              <a:t>Descriptive Statistics Function for  the Shopping Behavior Dataset</a:t>
            </a:r>
            <a:endParaRPr lang="en-US" sz="2400" dirty="0"/>
          </a:p>
          <a:p>
            <a:endParaRPr lang="en-US"/>
          </a:p>
        </p:txBody>
      </p:sp>
      <p:sp>
        <p:nvSpPr>
          <p:cNvPr id="4" name="Text Placeholder 3">
            <a:extLst>
              <a:ext uri="{FF2B5EF4-FFF2-40B4-BE49-F238E27FC236}">
                <a16:creationId xmlns:a16="http://schemas.microsoft.com/office/drawing/2014/main" id="{D2EB6EC4-3041-6FA3-8D51-A428CBD748E6}"/>
              </a:ext>
            </a:extLst>
          </p:cNvPr>
          <p:cNvSpPr>
            <a:spLocks noGrp="1"/>
          </p:cNvSpPr>
          <p:nvPr>
            <p:ph type="body" sz="half" idx="2"/>
          </p:nvPr>
        </p:nvSpPr>
        <p:spPr>
          <a:xfrm>
            <a:off x="1963866" y="1898352"/>
            <a:ext cx="8253741" cy="3316288"/>
          </a:xfrm>
        </p:spPr>
        <p:txBody>
          <a:bodyPr vert="horz" lIns="91440" tIns="45720" rIns="91440" bIns="45720" rtlCol="0" anchor="t">
            <a:normAutofit/>
          </a:bodyPr>
          <a:lstStyle/>
          <a:p>
            <a:pPr algn="ctr"/>
            <a:r>
              <a:rPr lang="en-US" sz="1800">
                <a:ea typeface="+mn-lt"/>
                <a:cs typeface="+mn-lt"/>
              </a:rPr>
              <a:t>The descriptive statistics table summarizes the main patterns in the </a:t>
            </a:r>
            <a:r>
              <a:rPr lang="en-US" sz="1800" b="1">
                <a:ea typeface="+mn-lt"/>
                <a:cs typeface="+mn-lt"/>
              </a:rPr>
              <a:t>Shopping Behavior dataset</a:t>
            </a:r>
            <a:r>
              <a:rPr lang="en-US" sz="1800">
                <a:ea typeface="+mn-lt"/>
                <a:cs typeface="+mn-lt"/>
              </a:rPr>
              <a:t>. It shows key numbers such as the count, mean, standard deviation, minimum, maximum, and quartiles for each field. From this output, we can quickly understand the typical customer age, how much they spend, their review ratings, and how many previous purchases they usually make. These statistics help us see the general behavior of customers and how each variable is spread across all 1000 records in the dataset.</a:t>
            </a:r>
            <a:endParaRPr lang="en-US" sz="1800"/>
          </a:p>
        </p:txBody>
      </p:sp>
      <p:sp>
        <p:nvSpPr>
          <p:cNvPr id="5" name="Date Placeholder 4">
            <a:extLst>
              <a:ext uri="{FF2B5EF4-FFF2-40B4-BE49-F238E27FC236}">
                <a16:creationId xmlns:a16="http://schemas.microsoft.com/office/drawing/2014/main" id="{2470FD81-1706-46E9-5EE5-FB57133E334C}"/>
              </a:ext>
            </a:extLst>
          </p:cNvPr>
          <p:cNvSpPr>
            <a:spLocks noGrp="1"/>
          </p:cNvSpPr>
          <p:nvPr>
            <p:ph type="dt" sz="half" idx="10"/>
          </p:nvPr>
        </p:nvSpPr>
        <p:spPr/>
        <p:txBody>
          <a:bodyPr/>
          <a:lstStyle/>
          <a:p>
            <a:fld id="{CBA769D0-9EB2-456C-A2CD-59212BDC9E43}" type="datetime1">
              <a:t>11/21/2025</a:t>
            </a:fld>
            <a:endParaRPr lang="en-US"/>
          </a:p>
        </p:txBody>
      </p:sp>
      <p:sp>
        <p:nvSpPr>
          <p:cNvPr id="6" name="Footer Placeholder 5">
            <a:extLst>
              <a:ext uri="{FF2B5EF4-FFF2-40B4-BE49-F238E27FC236}">
                <a16:creationId xmlns:a16="http://schemas.microsoft.com/office/drawing/2014/main" id="{CA040579-6EE0-8032-C6CB-7E421469254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87D9070-42B9-3C97-B5B6-4588EB81B649}"/>
              </a:ext>
            </a:extLst>
          </p:cNvPr>
          <p:cNvSpPr>
            <a:spLocks noGrp="1"/>
          </p:cNvSpPr>
          <p:nvPr>
            <p:ph type="sldNum" sz="quarter" idx="12"/>
          </p:nvPr>
        </p:nvSpPr>
        <p:spPr/>
        <p:txBody>
          <a:bodyPr/>
          <a:lstStyle/>
          <a:p>
            <a:fld id="{E30AF5A0-43BB-4336-8627-9123B9144D80}" type="slidenum">
              <a:rPr lang="en-US" dirty="0"/>
              <a:t>6</a:t>
            </a:fld>
            <a:endParaRPr lang="en-US"/>
          </a:p>
        </p:txBody>
      </p:sp>
      <p:pic>
        <p:nvPicPr>
          <p:cNvPr id="11" name="Picture 10" descr="A screenshot of a video game&#10;&#10;AI-generated content may be incorrect.">
            <a:extLst>
              <a:ext uri="{FF2B5EF4-FFF2-40B4-BE49-F238E27FC236}">
                <a16:creationId xmlns:a16="http://schemas.microsoft.com/office/drawing/2014/main" id="{59C339D7-A058-33E0-C1A1-5B09AEE0F065}"/>
              </a:ext>
            </a:extLst>
          </p:cNvPr>
          <p:cNvPicPr>
            <a:picLocks noChangeAspect="1"/>
          </p:cNvPicPr>
          <p:nvPr/>
        </p:nvPicPr>
        <p:blipFill>
          <a:blip r:embed="rId2"/>
          <a:stretch>
            <a:fillRect/>
          </a:stretch>
        </p:blipFill>
        <p:spPr>
          <a:xfrm>
            <a:off x="828583" y="4383483"/>
            <a:ext cx="10534835" cy="1183159"/>
          </a:xfrm>
          <a:prstGeom prst="rect">
            <a:avLst/>
          </a:prstGeom>
        </p:spPr>
      </p:pic>
    </p:spTree>
    <p:extLst>
      <p:ext uri="{BB962C8B-B14F-4D97-AF65-F5344CB8AC3E}">
        <p14:creationId xmlns:p14="http://schemas.microsoft.com/office/powerpoint/2010/main" val="1102997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F3B4-18FE-4EA8-FE0E-051727C84246}"/>
              </a:ext>
            </a:extLst>
          </p:cNvPr>
          <p:cNvSpPr>
            <a:spLocks noGrp="1"/>
          </p:cNvSpPr>
          <p:nvPr>
            <p:ph type="title"/>
          </p:nvPr>
        </p:nvSpPr>
        <p:spPr>
          <a:xfrm>
            <a:off x="456631" y="928255"/>
            <a:ext cx="8732108" cy="1317523"/>
          </a:xfrm>
        </p:spPr>
        <p:txBody>
          <a:bodyPr anchor="b">
            <a:normAutofit/>
          </a:bodyPr>
          <a:lstStyle/>
          <a:p>
            <a:pPr>
              <a:lnSpc>
                <a:spcPct val="90000"/>
              </a:lnSpc>
            </a:pPr>
            <a:r>
              <a:rPr lang="en-US" sz="2700" b="1"/>
              <a:t>Descriptive Statistics for a Random Sample of 150 Customers</a:t>
            </a:r>
            <a:endParaRPr lang="en-US" sz="2700"/>
          </a:p>
          <a:p>
            <a:pPr>
              <a:lnSpc>
                <a:spcPct val="90000"/>
              </a:lnSpc>
            </a:pPr>
            <a:endParaRPr lang="en-US" sz="2700"/>
          </a:p>
        </p:txBody>
      </p:sp>
      <p:pic>
        <p:nvPicPr>
          <p:cNvPr id="3" name="Picture 2" descr="A screenshot of a computer&#10;&#10;AI-generated content may be incorrect.">
            <a:extLst>
              <a:ext uri="{FF2B5EF4-FFF2-40B4-BE49-F238E27FC236}">
                <a16:creationId xmlns:a16="http://schemas.microsoft.com/office/drawing/2014/main" id="{9027D0D9-89CC-00B6-EF4C-D7C9CD670C52}"/>
              </a:ext>
            </a:extLst>
          </p:cNvPr>
          <p:cNvPicPr>
            <a:picLocks noChangeAspect="1"/>
          </p:cNvPicPr>
          <p:nvPr/>
        </p:nvPicPr>
        <p:blipFill>
          <a:blip r:embed="rId2"/>
          <a:stretch>
            <a:fillRect/>
          </a:stretch>
        </p:blipFill>
        <p:spPr>
          <a:xfrm>
            <a:off x="5252461" y="1958958"/>
            <a:ext cx="6172200" cy="3425570"/>
          </a:xfrm>
          <a:prstGeom prst="rect">
            <a:avLst/>
          </a:prstGeom>
          <a:noFill/>
        </p:spPr>
      </p:pic>
      <p:sp>
        <p:nvSpPr>
          <p:cNvPr id="4" name="Text Placeholder 3">
            <a:extLst>
              <a:ext uri="{FF2B5EF4-FFF2-40B4-BE49-F238E27FC236}">
                <a16:creationId xmlns:a16="http://schemas.microsoft.com/office/drawing/2014/main" id="{C9F49C02-1240-643F-AC81-992FE918ABF7}"/>
              </a:ext>
            </a:extLst>
          </p:cNvPr>
          <p:cNvSpPr>
            <a:spLocks noGrp="1"/>
          </p:cNvSpPr>
          <p:nvPr>
            <p:ph type="body" sz="half" idx="2"/>
          </p:nvPr>
        </p:nvSpPr>
        <p:spPr>
          <a:xfrm>
            <a:off x="456631" y="2092981"/>
            <a:ext cx="4556853" cy="3750816"/>
          </a:xfrm>
        </p:spPr>
        <p:txBody>
          <a:bodyPr vert="horz" lIns="91440" tIns="45720" rIns="91440" bIns="45720" rtlCol="0" anchor="t">
            <a:noAutofit/>
          </a:bodyPr>
          <a:lstStyle/>
          <a:p>
            <a:pPr>
              <a:lnSpc>
                <a:spcPct val="100000"/>
              </a:lnSpc>
            </a:pPr>
            <a:r>
              <a:rPr lang="en-US" b="1"/>
              <a:t>This output summarizes the Purchase Amount (USD) for a sample of 150 customers taken from the Shopping Behavior dataset. The goal was to understand how much customers usually spend and how the spending amounts are spread out.</a:t>
            </a:r>
          </a:p>
          <a:p>
            <a:pPr>
              <a:lnSpc>
                <a:spcPct val="100000"/>
              </a:lnSpc>
            </a:pPr>
            <a:endParaRPr lang="en-US" b="1"/>
          </a:p>
          <a:p>
            <a:pPr>
              <a:lnSpc>
                <a:spcPct val="100000"/>
              </a:lnSpc>
            </a:pPr>
            <a:r>
              <a:rPr lang="en-US" b="1"/>
              <a:t>This sample from the Shopping Behavior dataset (n = 150) shows that customer purchase amounts are centered around 59 USD, with spending ranging widely from 20 to 99 USD. The distribution is almost symmetric, and customers show varied spending habits. Most customers fall between 37 and 79 USD, while the most common single spending value is 77 USD.</a:t>
            </a:r>
          </a:p>
        </p:txBody>
      </p:sp>
      <p:sp>
        <p:nvSpPr>
          <p:cNvPr id="5" name="Date Placeholder 4">
            <a:extLst>
              <a:ext uri="{FF2B5EF4-FFF2-40B4-BE49-F238E27FC236}">
                <a16:creationId xmlns:a16="http://schemas.microsoft.com/office/drawing/2014/main" id="{44398FA8-FF2D-E222-B7D2-1C0BAF694DA6}"/>
              </a:ext>
            </a:extLst>
          </p:cNvPr>
          <p:cNvSpPr>
            <a:spLocks noGrp="1"/>
          </p:cNvSpPr>
          <p:nvPr>
            <p:ph type="dt" sz="half" idx="10"/>
          </p:nvPr>
        </p:nvSpPr>
        <p:spPr>
          <a:xfrm>
            <a:off x="8369448" y="6356350"/>
            <a:ext cx="2592594" cy="365125"/>
          </a:xfrm>
        </p:spPr>
        <p:txBody>
          <a:bodyPr anchor="ctr">
            <a:normAutofit/>
          </a:bodyPr>
          <a:lstStyle/>
          <a:p>
            <a:pPr>
              <a:spcAft>
                <a:spcPts val="600"/>
              </a:spcAft>
            </a:pPr>
            <a:fld id="{AD17F6D9-3575-4AFA-997C-79CF44E49159}" type="datetime1">
              <a:pPr>
                <a:spcAft>
                  <a:spcPts val="600"/>
                </a:spcAft>
              </a:pPr>
              <a:t>11/21/2025</a:t>
            </a:fld>
            <a:endParaRPr lang="en-US"/>
          </a:p>
        </p:txBody>
      </p:sp>
      <p:sp>
        <p:nvSpPr>
          <p:cNvPr id="6" name="Footer Placeholder 5">
            <a:extLst>
              <a:ext uri="{FF2B5EF4-FFF2-40B4-BE49-F238E27FC236}">
                <a16:creationId xmlns:a16="http://schemas.microsoft.com/office/drawing/2014/main" id="{50FB6A6F-9B2E-BA45-1A1B-06B92E26042F}"/>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7" name="Slide Number Placeholder 6">
            <a:extLst>
              <a:ext uri="{FF2B5EF4-FFF2-40B4-BE49-F238E27FC236}">
                <a16:creationId xmlns:a16="http://schemas.microsoft.com/office/drawing/2014/main" id="{804542E1-5E52-682A-1150-3A9B2B600040}"/>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7</a:t>
            </a:fld>
            <a:endParaRPr lang="en-US"/>
          </a:p>
        </p:txBody>
      </p:sp>
    </p:spTree>
    <p:extLst>
      <p:ext uri="{BB962C8B-B14F-4D97-AF65-F5344CB8AC3E}">
        <p14:creationId xmlns:p14="http://schemas.microsoft.com/office/powerpoint/2010/main" val="1004555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6CA5-544F-A11A-DC52-4F9C712478E1}"/>
              </a:ext>
            </a:extLst>
          </p:cNvPr>
          <p:cNvSpPr>
            <a:spLocks noGrp="1"/>
          </p:cNvSpPr>
          <p:nvPr>
            <p:ph type="title"/>
          </p:nvPr>
        </p:nvSpPr>
        <p:spPr>
          <a:xfrm>
            <a:off x="713432" y="1049895"/>
            <a:ext cx="10640005" cy="761540"/>
          </a:xfrm>
        </p:spPr>
        <p:txBody>
          <a:bodyPr anchor="t">
            <a:normAutofit/>
          </a:bodyPr>
          <a:lstStyle/>
          <a:p>
            <a:pPr>
              <a:lnSpc>
                <a:spcPct val="90000"/>
              </a:lnSpc>
            </a:pPr>
            <a:r>
              <a:rPr lang="en-US" sz="2800" b="1"/>
              <a:t>Systematic Sampling of Customers and Purchase Analysis</a:t>
            </a:r>
            <a:endParaRPr lang="en-US" sz="2800"/>
          </a:p>
          <a:p>
            <a:pPr>
              <a:lnSpc>
                <a:spcPct val="90000"/>
              </a:lnSpc>
            </a:pPr>
            <a:endParaRPr lang="en-US" sz="2800"/>
          </a:p>
        </p:txBody>
      </p:sp>
      <p:sp>
        <p:nvSpPr>
          <p:cNvPr id="4" name="Text Placeholder 3">
            <a:extLst>
              <a:ext uri="{FF2B5EF4-FFF2-40B4-BE49-F238E27FC236}">
                <a16:creationId xmlns:a16="http://schemas.microsoft.com/office/drawing/2014/main" id="{7044BB32-84B8-7286-A970-51DF2B43FC5B}"/>
              </a:ext>
            </a:extLst>
          </p:cNvPr>
          <p:cNvSpPr>
            <a:spLocks noGrp="1"/>
          </p:cNvSpPr>
          <p:nvPr>
            <p:ph sz="half" idx="2"/>
          </p:nvPr>
        </p:nvSpPr>
        <p:spPr>
          <a:xfrm>
            <a:off x="460547" y="2002007"/>
            <a:ext cx="5779910" cy="3423777"/>
          </a:xfrm>
        </p:spPr>
        <p:txBody>
          <a:bodyPr vert="horz" lIns="91440" tIns="45720" rIns="91440" bIns="45720" rtlCol="0" anchor="t">
            <a:normAutofit/>
          </a:bodyPr>
          <a:lstStyle/>
          <a:p>
            <a:pPr marL="0" indent="0">
              <a:buNone/>
            </a:pPr>
            <a:r>
              <a:rPr lang="en-US" b="1"/>
              <a:t>This systematic sample from the Shopping Behavior dataset (n = 67) showed that customers spend about 57 USD on average, with spending values ranging from 21 to 98 USD. The distribution is nearly symmetric, and most customers fall between 35.5 and 77 USD. The most common spending value is 90 USD.</a:t>
            </a:r>
            <a:endParaRPr lang="en-US"/>
          </a:p>
        </p:txBody>
      </p:sp>
      <p:pic>
        <p:nvPicPr>
          <p:cNvPr id="8" name="Picture 7" descr="A screenshot of a computer&#10;&#10;AI-generated content may be incorrect.">
            <a:extLst>
              <a:ext uri="{FF2B5EF4-FFF2-40B4-BE49-F238E27FC236}">
                <a16:creationId xmlns:a16="http://schemas.microsoft.com/office/drawing/2014/main" id="{E1E26F04-C95F-1244-FC80-D7E101C3E56E}"/>
              </a:ext>
            </a:extLst>
          </p:cNvPr>
          <p:cNvPicPr>
            <a:picLocks noChangeAspect="1"/>
          </p:cNvPicPr>
          <p:nvPr/>
        </p:nvPicPr>
        <p:blipFill>
          <a:blip r:embed="rId2"/>
          <a:stretch>
            <a:fillRect/>
          </a:stretch>
        </p:blipFill>
        <p:spPr>
          <a:xfrm>
            <a:off x="6233432" y="2001736"/>
            <a:ext cx="5183188" cy="3096955"/>
          </a:xfrm>
          <a:prstGeom prst="rect">
            <a:avLst/>
          </a:prstGeom>
          <a:noFill/>
        </p:spPr>
      </p:pic>
      <p:sp>
        <p:nvSpPr>
          <p:cNvPr id="5" name="Date Placeholder 4">
            <a:extLst>
              <a:ext uri="{FF2B5EF4-FFF2-40B4-BE49-F238E27FC236}">
                <a16:creationId xmlns:a16="http://schemas.microsoft.com/office/drawing/2014/main" id="{203C1B04-EF2B-17E9-F864-5889CA32AC7F}"/>
              </a:ext>
            </a:extLst>
          </p:cNvPr>
          <p:cNvSpPr>
            <a:spLocks noGrp="1"/>
          </p:cNvSpPr>
          <p:nvPr>
            <p:ph type="dt" sz="half" idx="10"/>
          </p:nvPr>
        </p:nvSpPr>
        <p:spPr>
          <a:xfrm>
            <a:off x="8369448" y="6356350"/>
            <a:ext cx="2592594" cy="365125"/>
          </a:xfrm>
        </p:spPr>
        <p:txBody>
          <a:bodyPr anchor="ctr">
            <a:normAutofit/>
          </a:bodyPr>
          <a:lstStyle/>
          <a:p>
            <a:pPr>
              <a:spcAft>
                <a:spcPts val="600"/>
              </a:spcAft>
            </a:pPr>
            <a:fld id="{AC61EC78-76C1-4217-89D3-0133EEE75FB8}" type="datetime1">
              <a:rPr lang="en-US"/>
              <a:pPr>
                <a:spcAft>
                  <a:spcPts val="600"/>
                </a:spcAft>
              </a:pPr>
              <a:t>11/21/2025</a:t>
            </a:fld>
            <a:endParaRPr lang="en-US"/>
          </a:p>
        </p:txBody>
      </p:sp>
      <p:sp>
        <p:nvSpPr>
          <p:cNvPr id="6" name="Footer Placeholder 5">
            <a:extLst>
              <a:ext uri="{FF2B5EF4-FFF2-40B4-BE49-F238E27FC236}">
                <a16:creationId xmlns:a16="http://schemas.microsoft.com/office/drawing/2014/main" id="{9EBF6420-219D-E813-B70F-BE96B9F0483D}"/>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7" name="Slide Number Placeholder 6">
            <a:extLst>
              <a:ext uri="{FF2B5EF4-FFF2-40B4-BE49-F238E27FC236}">
                <a16:creationId xmlns:a16="http://schemas.microsoft.com/office/drawing/2014/main" id="{52174A8D-CFB2-38C5-F5FF-9C9C1BEA3167}"/>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8</a:t>
            </a:fld>
            <a:endParaRPr lang="en-US"/>
          </a:p>
        </p:txBody>
      </p:sp>
    </p:spTree>
    <p:extLst>
      <p:ext uri="{BB962C8B-B14F-4D97-AF65-F5344CB8AC3E}">
        <p14:creationId xmlns:p14="http://schemas.microsoft.com/office/powerpoint/2010/main" val="2132703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A9C81-807E-300E-7A3F-E1A8E1B16494}"/>
            </a:ext>
          </a:extLst>
        </p:cNvPr>
        <p:cNvGrpSpPr/>
        <p:nvPr/>
      </p:nvGrpSpPr>
      <p:grpSpPr>
        <a:xfrm>
          <a:off x="0" y="0"/>
          <a:ext cx="0" cy="0"/>
          <a:chOff x="0" y="0"/>
          <a:chExt cx="0" cy="0"/>
        </a:xfrm>
      </p:grpSpPr>
      <p:pic>
        <p:nvPicPr>
          <p:cNvPr id="9" name="Content Placeholder 2" descr="A black screen with white text&#10;&#10;AI-generated content may be incorrect.">
            <a:extLst>
              <a:ext uri="{FF2B5EF4-FFF2-40B4-BE49-F238E27FC236}">
                <a16:creationId xmlns:a16="http://schemas.microsoft.com/office/drawing/2014/main" id="{5AA194DD-82B7-1188-E150-DAA72B185DBA}"/>
              </a:ext>
            </a:extLst>
          </p:cNvPr>
          <p:cNvPicPr>
            <a:picLocks noChangeAspect="1"/>
          </p:cNvPicPr>
          <p:nvPr/>
        </p:nvPicPr>
        <p:blipFill>
          <a:blip r:embed="rId2"/>
          <a:stretch>
            <a:fillRect/>
          </a:stretch>
        </p:blipFill>
        <p:spPr>
          <a:xfrm>
            <a:off x="1788824" y="3753548"/>
            <a:ext cx="8949406" cy="1788620"/>
          </a:xfrm>
          <a:prstGeom prst="rect">
            <a:avLst/>
          </a:prstGeom>
          <a:noFill/>
        </p:spPr>
      </p:pic>
      <p:sp>
        <p:nvSpPr>
          <p:cNvPr id="14" name="Text Placeholder 3">
            <a:extLst>
              <a:ext uri="{FF2B5EF4-FFF2-40B4-BE49-F238E27FC236}">
                <a16:creationId xmlns:a16="http://schemas.microsoft.com/office/drawing/2014/main" id="{18956D94-0A0B-ADBA-2E50-7C245033BA22}"/>
              </a:ext>
            </a:extLst>
          </p:cNvPr>
          <p:cNvSpPr>
            <a:spLocks noGrp="1"/>
          </p:cNvSpPr>
          <p:nvPr>
            <p:ph type="body" sz="half" idx="2"/>
          </p:nvPr>
        </p:nvSpPr>
        <p:spPr>
          <a:xfrm>
            <a:off x="-3089" y="1032332"/>
            <a:ext cx="12157961" cy="5136269"/>
          </a:xfrm>
        </p:spPr>
        <p:txBody>
          <a:bodyPr vert="horz" lIns="91440" tIns="45720" rIns="91440" bIns="45720" rtlCol="0" anchor="t">
            <a:normAutofit/>
          </a:bodyPr>
          <a:lstStyle/>
          <a:p>
            <a:pPr algn="ctr">
              <a:lnSpc>
                <a:spcPct val="100000"/>
              </a:lnSpc>
              <a:spcBef>
                <a:spcPts val="0"/>
              </a:spcBef>
            </a:pPr>
            <a:r>
              <a:rPr lang="en-US" sz="1800" b="1">
                <a:ea typeface="+mn-lt"/>
                <a:cs typeface="+mn-lt"/>
              </a:rPr>
              <a:t>The descriptive statistics show that customers typically spend around $60, with the mean and median almost identical. </a:t>
            </a:r>
            <a:endParaRPr lang="en-US" b="1">
              <a:ea typeface="+mn-lt"/>
              <a:cs typeface="+mn-lt"/>
            </a:endParaRPr>
          </a:p>
          <a:p>
            <a:pPr algn="ctr">
              <a:lnSpc>
                <a:spcPct val="100000"/>
              </a:lnSpc>
              <a:spcBef>
                <a:spcPts val="0"/>
              </a:spcBef>
            </a:pPr>
            <a:endParaRPr lang="en-US" sz="1800" b="1">
              <a:ea typeface="+mn-lt"/>
              <a:cs typeface="+mn-lt"/>
            </a:endParaRPr>
          </a:p>
          <a:p>
            <a:pPr algn="ctr">
              <a:lnSpc>
                <a:spcPct val="100000"/>
              </a:lnSpc>
              <a:spcBef>
                <a:spcPts val="0"/>
              </a:spcBef>
            </a:pPr>
            <a:r>
              <a:rPr lang="en-US" sz="1800" b="1">
                <a:ea typeface="+mn-lt"/>
                <a:cs typeface="+mn-lt"/>
              </a:rPr>
              <a:t>The spending range runs from $20 to $100, and the moderate standard deviation indicates normal variation without extreme differences. </a:t>
            </a:r>
            <a:endParaRPr lang="en-US" b="1">
              <a:ea typeface="+mn-lt"/>
              <a:cs typeface="+mn-lt"/>
            </a:endParaRPr>
          </a:p>
          <a:p>
            <a:pPr algn="ctr">
              <a:lnSpc>
                <a:spcPct val="100000"/>
              </a:lnSpc>
              <a:spcBef>
                <a:spcPts val="0"/>
              </a:spcBef>
            </a:pPr>
            <a:endParaRPr lang="en-US" sz="1800" b="1">
              <a:ea typeface="+mn-lt"/>
              <a:cs typeface="+mn-lt"/>
            </a:endParaRPr>
          </a:p>
          <a:p>
            <a:pPr algn="ctr">
              <a:lnSpc>
                <a:spcPct val="100000"/>
              </a:lnSpc>
              <a:spcBef>
                <a:spcPts val="0"/>
              </a:spcBef>
            </a:pPr>
            <a:r>
              <a:rPr lang="en-US" sz="1800" b="1">
                <a:ea typeface="+mn-lt"/>
                <a:cs typeface="+mn-lt"/>
              </a:rPr>
              <a:t>Skewness is very close to zero, and the negative kurtosis shows fewer extreme values, meaning the distribution is balanced and stable. </a:t>
            </a:r>
            <a:endParaRPr lang="en-US" b="1">
              <a:ea typeface="+mn-lt"/>
              <a:cs typeface="+mn-lt"/>
            </a:endParaRPr>
          </a:p>
          <a:p>
            <a:pPr algn="ctr">
              <a:lnSpc>
                <a:spcPct val="100000"/>
              </a:lnSpc>
              <a:spcBef>
                <a:spcPts val="0"/>
              </a:spcBef>
            </a:pPr>
            <a:endParaRPr lang="en-US" sz="1800" b="1">
              <a:ea typeface="+mn-lt"/>
              <a:cs typeface="+mn-lt"/>
            </a:endParaRPr>
          </a:p>
          <a:p>
            <a:pPr algn="ctr">
              <a:lnSpc>
                <a:spcPct val="100000"/>
              </a:lnSpc>
              <a:spcBef>
                <a:spcPts val="0"/>
              </a:spcBef>
            </a:pPr>
            <a:r>
              <a:rPr lang="en-US" sz="1800" b="1">
                <a:ea typeface="+mn-lt"/>
                <a:cs typeface="+mn-lt"/>
              </a:rPr>
              <a:t>Overall, customer spending is consistent and predictable, making the data reliable for further analysis.</a:t>
            </a:r>
            <a:endParaRPr lang="en-US" b="1">
              <a:ea typeface="+mn-lt"/>
              <a:cs typeface="+mn-lt"/>
            </a:endParaRPr>
          </a:p>
          <a:p>
            <a:pPr algn="ctr">
              <a:lnSpc>
                <a:spcPct val="100000"/>
              </a:lnSpc>
              <a:spcBef>
                <a:spcPts val="0"/>
              </a:spcBef>
            </a:pPr>
            <a:endParaRPr lang="en-US" sz="1800" b="1">
              <a:latin typeface="Calisto MT"/>
              <a:cs typeface="Sabon Next LT"/>
            </a:endParaRPr>
          </a:p>
        </p:txBody>
      </p:sp>
      <p:sp>
        <p:nvSpPr>
          <p:cNvPr id="16" name="Date Placeholder 4">
            <a:extLst>
              <a:ext uri="{FF2B5EF4-FFF2-40B4-BE49-F238E27FC236}">
                <a16:creationId xmlns:a16="http://schemas.microsoft.com/office/drawing/2014/main" id="{F2152C81-E2A5-96AD-BFE6-09D5A000C063}"/>
              </a:ext>
            </a:extLst>
          </p:cNvPr>
          <p:cNvSpPr>
            <a:spLocks noGrp="1"/>
          </p:cNvSpPr>
          <p:nvPr>
            <p:ph type="dt" sz="half" idx="10"/>
          </p:nvPr>
        </p:nvSpPr>
        <p:spPr>
          <a:xfrm>
            <a:off x="8369448" y="6356350"/>
            <a:ext cx="2592594" cy="365125"/>
          </a:xfrm>
        </p:spPr>
        <p:txBody>
          <a:bodyPr/>
          <a:lstStyle/>
          <a:p>
            <a:pPr>
              <a:spcAft>
                <a:spcPts val="600"/>
              </a:spcAft>
            </a:pPr>
            <a:fld id="{5D497A02-9C4D-4883-9CD4-C709B5129C2F}" type="datetime1">
              <a:pPr>
                <a:spcAft>
                  <a:spcPts val="600"/>
                </a:spcAft>
              </a:pPr>
              <a:t>11/21/2025</a:t>
            </a:fld>
            <a:endParaRPr lang="en-US"/>
          </a:p>
        </p:txBody>
      </p:sp>
      <p:sp>
        <p:nvSpPr>
          <p:cNvPr id="18" name="Footer Placeholder 5">
            <a:extLst>
              <a:ext uri="{FF2B5EF4-FFF2-40B4-BE49-F238E27FC236}">
                <a16:creationId xmlns:a16="http://schemas.microsoft.com/office/drawing/2014/main" id="{91AE29CF-3E1A-28D5-F190-F9ADF257F813}"/>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
        <p:nvSpPr>
          <p:cNvPr id="20" name="Slide Number Placeholder 6">
            <a:extLst>
              <a:ext uri="{FF2B5EF4-FFF2-40B4-BE49-F238E27FC236}">
                <a16:creationId xmlns:a16="http://schemas.microsoft.com/office/drawing/2014/main" id="{848D48B1-66FC-3BFB-593E-F6B6AE5FC3BB}"/>
              </a:ext>
            </a:extLst>
          </p:cNvPr>
          <p:cNvSpPr>
            <a:spLocks noGrp="1"/>
          </p:cNvSpPr>
          <p:nvPr>
            <p:ph type="sldNum" sz="quarter" idx="12"/>
          </p:nvPr>
        </p:nvSpPr>
        <p:spPr>
          <a:xfrm>
            <a:off x="10919012" y="6356350"/>
            <a:ext cx="672354" cy="365125"/>
          </a:xfrm>
        </p:spPr>
        <p:txBody>
          <a:bodyPr/>
          <a:lstStyle/>
          <a:p>
            <a:pPr>
              <a:spcAft>
                <a:spcPts val="600"/>
              </a:spcAft>
            </a:pPr>
            <a:fld id="{E30AF5A0-43BB-4336-8627-9123B9144D80}" type="slidenum">
              <a:rPr lang="en-US" dirty="0"/>
              <a:pPr>
                <a:spcAft>
                  <a:spcPts val="600"/>
                </a:spcAft>
              </a:pPr>
              <a:t>9</a:t>
            </a:fld>
            <a:endParaRPr lang="en-US"/>
          </a:p>
        </p:txBody>
      </p:sp>
      <p:sp>
        <p:nvSpPr>
          <p:cNvPr id="11" name="Title 10">
            <a:extLst>
              <a:ext uri="{FF2B5EF4-FFF2-40B4-BE49-F238E27FC236}">
                <a16:creationId xmlns:a16="http://schemas.microsoft.com/office/drawing/2014/main" id="{5DD63BDA-B8B1-5941-7B60-FC09B743FF93}"/>
              </a:ext>
            </a:extLst>
          </p:cNvPr>
          <p:cNvSpPr>
            <a:spLocks noGrp="1"/>
          </p:cNvSpPr>
          <p:nvPr>
            <p:ph type="title"/>
          </p:nvPr>
        </p:nvSpPr>
        <p:spPr>
          <a:xfrm>
            <a:off x="381061" y="119103"/>
            <a:ext cx="11213331" cy="794830"/>
          </a:xfrm>
        </p:spPr>
        <p:txBody>
          <a:bodyPr vert="horz" lIns="91440" tIns="45720" rIns="91440" bIns="45720" rtlCol="0" anchor="t">
            <a:normAutofit/>
          </a:bodyPr>
          <a:lstStyle/>
          <a:p>
            <a:pPr algn="ctr"/>
            <a:r>
              <a:rPr lang="en-US" b="1"/>
              <a:t>TASK 2 (5): DESCRIPTIVE ANALYTICS</a:t>
            </a:r>
            <a:endParaRPr lang="en-US"/>
          </a:p>
        </p:txBody>
      </p:sp>
    </p:spTree>
    <p:extLst>
      <p:ext uri="{BB962C8B-B14F-4D97-AF65-F5344CB8AC3E}">
        <p14:creationId xmlns:p14="http://schemas.microsoft.com/office/powerpoint/2010/main" val="1053593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5D17D-8197-F2D9-A8D7-4E51A9287A8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3F89ED0C-4807-B4FF-36A2-25ADFCB1C740}"/>
              </a:ext>
            </a:extLst>
          </p:cNvPr>
          <p:cNvSpPr>
            <a:spLocks noGrp="1"/>
          </p:cNvSpPr>
          <p:nvPr>
            <p:ph type="title"/>
          </p:nvPr>
        </p:nvSpPr>
        <p:spPr>
          <a:xfrm>
            <a:off x="700635" y="922096"/>
            <a:ext cx="10691265" cy="1127930"/>
          </a:xfrm>
        </p:spPr>
        <p:txBody>
          <a:bodyPr vert="horz" lIns="91440" tIns="45720" rIns="91440" bIns="45720" rtlCol="0" anchor="t">
            <a:normAutofit/>
          </a:bodyPr>
          <a:lstStyle/>
          <a:p>
            <a:r>
              <a:rPr lang="en-US" b="1"/>
              <a:t>TASK 2 (6): SCATTER PLOT</a:t>
            </a:r>
          </a:p>
        </p:txBody>
      </p:sp>
      <p:sp>
        <p:nvSpPr>
          <p:cNvPr id="14" name="Text Placeholder 3">
            <a:extLst>
              <a:ext uri="{FF2B5EF4-FFF2-40B4-BE49-F238E27FC236}">
                <a16:creationId xmlns:a16="http://schemas.microsoft.com/office/drawing/2014/main" id="{7B086640-F136-1AF6-E0B9-21A08E7A10B8}"/>
              </a:ext>
            </a:extLst>
          </p:cNvPr>
          <p:cNvSpPr>
            <a:spLocks noGrp="1"/>
          </p:cNvSpPr>
          <p:nvPr>
            <p:ph sz="half" idx="1"/>
          </p:nvPr>
        </p:nvSpPr>
        <p:spPr>
          <a:xfrm>
            <a:off x="709086" y="2057811"/>
            <a:ext cx="5662735" cy="3915287"/>
          </a:xfrm>
        </p:spPr>
        <p:txBody>
          <a:bodyPr vert="horz" lIns="91440" tIns="45720" rIns="91440" bIns="45720" rtlCol="0" anchor="t">
            <a:normAutofit/>
          </a:bodyPr>
          <a:lstStyle/>
          <a:p>
            <a:pPr marL="0" indent="0">
              <a:spcBef>
                <a:spcPts val="0"/>
              </a:spcBef>
              <a:spcAft>
                <a:spcPts val="600"/>
              </a:spcAft>
              <a:buNone/>
            </a:pPr>
            <a:r>
              <a:rPr lang="en-US" b="1" dirty="0">
                <a:ea typeface="+mn-lt"/>
                <a:cs typeface="+mn-lt"/>
              </a:rPr>
              <a:t>The scatter plot shows no clear trend or pattern between Age and Purchase Amount, as the points are widely scattered across all ages. Customers of different ages spend both low and high amounts, indicating that spending behavior is not influenced by age. </a:t>
            </a:r>
            <a:endParaRPr lang="en-US" dirty="0">
              <a:ea typeface="+mn-lt"/>
              <a:cs typeface="+mn-lt"/>
            </a:endParaRPr>
          </a:p>
          <a:p>
            <a:pPr marL="0" indent="0">
              <a:spcBef>
                <a:spcPts val="0"/>
              </a:spcBef>
              <a:spcAft>
                <a:spcPts val="600"/>
              </a:spcAft>
              <a:buNone/>
            </a:pPr>
            <a:endParaRPr lang="en-US" b="1">
              <a:ea typeface="+mn-lt"/>
              <a:cs typeface="+mn-lt"/>
            </a:endParaRPr>
          </a:p>
          <a:p>
            <a:pPr marL="0" indent="0">
              <a:spcBef>
                <a:spcPts val="0"/>
              </a:spcBef>
              <a:spcAft>
                <a:spcPts val="600"/>
              </a:spcAft>
              <a:buNone/>
            </a:pPr>
            <a:r>
              <a:rPr lang="en-US" b="1" dirty="0">
                <a:ea typeface="+mn-lt"/>
                <a:cs typeface="+mn-lt"/>
              </a:rPr>
              <a:t>This confirms that age has no relation with how much customers purchase.</a:t>
            </a:r>
            <a:endParaRPr lang="en-US" dirty="0"/>
          </a:p>
        </p:txBody>
      </p:sp>
      <p:sp>
        <p:nvSpPr>
          <p:cNvPr id="16" name="Date Placeholder 4">
            <a:extLst>
              <a:ext uri="{FF2B5EF4-FFF2-40B4-BE49-F238E27FC236}">
                <a16:creationId xmlns:a16="http://schemas.microsoft.com/office/drawing/2014/main" id="{3023EC88-17A7-5BB3-4682-D04B82E2CFCC}"/>
              </a:ext>
            </a:extLst>
          </p:cNvPr>
          <p:cNvSpPr>
            <a:spLocks noGrp="1"/>
          </p:cNvSpPr>
          <p:nvPr>
            <p:ph type="dt" sz="half" idx="10"/>
          </p:nvPr>
        </p:nvSpPr>
        <p:spPr>
          <a:xfrm>
            <a:off x="8369448" y="6356350"/>
            <a:ext cx="2592594" cy="365125"/>
          </a:xfrm>
        </p:spPr>
        <p:txBody>
          <a:bodyPr anchor="ctr">
            <a:normAutofit/>
          </a:bodyPr>
          <a:lstStyle/>
          <a:p>
            <a:pPr>
              <a:spcAft>
                <a:spcPts val="600"/>
              </a:spcAft>
            </a:pPr>
            <a:fld id="{5D497A02-9C4D-4883-9CD4-C709B5129C2F}" type="datetime1">
              <a:rPr lang="en-US"/>
              <a:pPr>
                <a:spcAft>
                  <a:spcPts val="600"/>
                </a:spcAft>
              </a:pPr>
              <a:t>11/21/2025</a:t>
            </a:fld>
            <a:endParaRPr lang="en-US"/>
          </a:p>
        </p:txBody>
      </p:sp>
      <p:sp>
        <p:nvSpPr>
          <p:cNvPr id="18" name="Footer Placeholder 5">
            <a:extLst>
              <a:ext uri="{FF2B5EF4-FFF2-40B4-BE49-F238E27FC236}">
                <a16:creationId xmlns:a16="http://schemas.microsoft.com/office/drawing/2014/main" id="{FD09DF39-960A-82C4-2013-A347CAD76A76}"/>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20" name="Slide Number Placeholder 6">
            <a:extLst>
              <a:ext uri="{FF2B5EF4-FFF2-40B4-BE49-F238E27FC236}">
                <a16:creationId xmlns:a16="http://schemas.microsoft.com/office/drawing/2014/main" id="{D9229201-32CC-EE82-8F49-0953F4C45B80}"/>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10</a:t>
            </a:fld>
            <a:endParaRPr lang="en-US"/>
          </a:p>
        </p:txBody>
      </p:sp>
      <p:pic>
        <p:nvPicPr>
          <p:cNvPr id="2" name="Picture 1" descr="A diagram of blue dots&#10;&#10;AI-generated content may be incorrect.">
            <a:extLst>
              <a:ext uri="{FF2B5EF4-FFF2-40B4-BE49-F238E27FC236}">
                <a16:creationId xmlns:a16="http://schemas.microsoft.com/office/drawing/2014/main" id="{74C7A9A7-9098-1A76-08B6-00C69CEC517C}"/>
              </a:ext>
            </a:extLst>
          </p:cNvPr>
          <p:cNvPicPr>
            <a:picLocks noChangeAspect="1"/>
          </p:cNvPicPr>
          <p:nvPr/>
        </p:nvPicPr>
        <p:blipFill>
          <a:blip r:embed="rId2"/>
          <a:stretch>
            <a:fillRect/>
          </a:stretch>
        </p:blipFill>
        <p:spPr>
          <a:xfrm>
            <a:off x="6864700" y="1783597"/>
            <a:ext cx="4403617" cy="3290806"/>
          </a:xfrm>
          <a:prstGeom prst="rect">
            <a:avLst/>
          </a:prstGeom>
        </p:spPr>
      </p:pic>
    </p:spTree>
    <p:extLst>
      <p:ext uri="{BB962C8B-B14F-4D97-AF65-F5344CB8AC3E}">
        <p14:creationId xmlns:p14="http://schemas.microsoft.com/office/powerpoint/2010/main" val="3769062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7231-E2F9-1C94-43C0-87CA9CE91ED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9F5AA93-C1BA-4281-62B0-A48FB2C4B84C}"/>
              </a:ext>
            </a:extLst>
          </p:cNvPr>
          <p:cNvPicPr>
            <a:picLocks noChangeAspect="1"/>
          </p:cNvPicPr>
          <p:nvPr/>
        </p:nvPicPr>
        <p:blipFill>
          <a:blip r:embed="rId2"/>
          <a:stretch>
            <a:fillRect/>
          </a:stretch>
        </p:blipFill>
        <p:spPr>
          <a:xfrm>
            <a:off x="6872892" y="1787310"/>
            <a:ext cx="4371975" cy="3257550"/>
          </a:xfrm>
          <a:prstGeom prst="rect">
            <a:avLst/>
          </a:prstGeom>
        </p:spPr>
      </p:pic>
      <p:sp>
        <p:nvSpPr>
          <p:cNvPr id="11" name="Title 10">
            <a:extLst>
              <a:ext uri="{FF2B5EF4-FFF2-40B4-BE49-F238E27FC236}">
                <a16:creationId xmlns:a16="http://schemas.microsoft.com/office/drawing/2014/main" id="{91E2EDA4-8492-0BCD-AA3A-F6BFE9FE07D6}"/>
              </a:ext>
            </a:extLst>
          </p:cNvPr>
          <p:cNvSpPr>
            <a:spLocks noGrp="1"/>
          </p:cNvSpPr>
          <p:nvPr>
            <p:ph type="title"/>
          </p:nvPr>
        </p:nvSpPr>
        <p:spPr>
          <a:xfrm>
            <a:off x="700635" y="922096"/>
            <a:ext cx="10691265" cy="1127930"/>
          </a:xfrm>
        </p:spPr>
        <p:txBody>
          <a:bodyPr vert="horz" lIns="91440" tIns="45720" rIns="91440" bIns="45720" rtlCol="0" anchor="t">
            <a:normAutofit/>
          </a:bodyPr>
          <a:lstStyle/>
          <a:p>
            <a:r>
              <a:rPr lang="en-US" b="1"/>
              <a:t>TASK 2 (6): box PLOT</a:t>
            </a:r>
          </a:p>
        </p:txBody>
      </p:sp>
      <p:sp>
        <p:nvSpPr>
          <p:cNvPr id="14" name="Text Placeholder 3">
            <a:extLst>
              <a:ext uri="{FF2B5EF4-FFF2-40B4-BE49-F238E27FC236}">
                <a16:creationId xmlns:a16="http://schemas.microsoft.com/office/drawing/2014/main" id="{A90D514E-4510-18E7-97FF-DA3240469118}"/>
              </a:ext>
            </a:extLst>
          </p:cNvPr>
          <p:cNvSpPr>
            <a:spLocks noGrp="1"/>
          </p:cNvSpPr>
          <p:nvPr>
            <p:ph sz="half" idx="1"/>
          </p:nvPr>
        </p:nvSpPr>
        <p:spPr>
          <a:xfrm>
            <a:off x="709086" y="2057811"/>
            <a:ext cx="5939824" cy="3915287"/>
          </a:xfrm>
        </p:spPr>
        <p:txBody>
          <a:bodyPr vert="horz" lIns="91440" tIns="45720" rIns="91440" bIns="45720" rtlCol="0" anchor="t">
            <a:normAutofit/>
          </a:bodyPr>
          <a:lstStyle/>
          <a:p>
            <a:pPr marL="0" indent="0">
              <a:spcBef>
                <a:spcPts val="0"/>
              </a:spcBef>
              <a:spcAft>
                <a:spcPts val="600"/>
              </a:spcAft>
              <a:buNone/>
            </a:pPr>
            <a:r>
              <a:rPr lang="en-US" b="1" dirty="0">
                <a:ea typeface="+mn-lt"/>
                <a:cs typeface="+mn-lt"/>
              </a:rPr>
              <a:t>The box plot shows that most purchase amounts fall within a clear middle range, with the median at around $60, indicating a balanced and typical spending pattern. The whiskers stretching from $20 to $100 show the full range of purchase amounts, and the absence of outliers confirms that all values fall within a normal, expected range. </a:t>
            </a:r>
            <a:endParaRPr lang="en-US"/>
          </a:p>
          <a:p>
            <a:pPr marL="0" indent="0">
              <a:spcBef>
                <a:spcPts val="0"/>
              </a:spcBef>
              <a:spcAft>
                <a:spcPts val="600"/>
              </a:spcAft>
              <a:buNone/>
            </a:pPr>
            <a:endParaRPr lang="en-US" b="1">
              <a:ea typeface="+mn-lt"/>
              <a:cs typeface="+mn-lt"/>
            </a:endParaRPr>
          </a:p>
          <a:p>
            <a:pPr marL="0" indent="0">
              <a:spcBef>
                <a:spcPts val="0"/>
              </a:spcBef>
              <a:spcAft>
                <a:spcPts val="600"/>
              </a:spcAft>
              <a:buNone/>
            </a:pPr>
            <a:r>
              <a:rPr lang="en-US" b="1" dirty="0">
                <a:ea typeface="+mn-lt"/>
                <a:cs typeface="+mn-lt"/>
              </a:rPr>
              <a:t>Overall, the plot reflects stable and consistent customer spending.</a:t>
            </a:r>
            <a:endParaRPr lang="en-US" dirty="0"/>
          </a:p>
        </p:txBody>
      </p:sp>
      <p:sp>
        <p:nvSpPr>
          <p:cNvPr id="16" name="Date Placeholder 4">
            <a:extLst>
              <a:ext uri="{FF2B5EF4-FFF2-40B4-BE49-F238E27FC236}">
                <a16:creationId xmlns:a16="http://schemas.microsoft.com/office/drawing/2014/main" id="{6532C2F5-60CA-B6C3-F7B7-BA746335AD2A}"/>
              </a:ext>
            </a:extLst>
          </p:cNvPr>
          <p:cNvSpPr>
            <a:spLocks noGrp="1"/>
          </p:cNvSpPr>
          <p:nvPr>
            <p:ph type="dt" sz="half" idx="10"/>
          </p:nvPr>
        </p:nvSpPr>
        <p:spPr>
          <a:xfrm>
            <a:off x="8369448" y="6356350"/>
            <a:ext cx="2592594" cy="365125"/>
          </a:xfrm>
        </p:spPr>
        <p:txBody>
          <a:bodyPr anchor="ctr">
            <a:normAutofit/>
          </a:bodyPr>
          <a:lstStyle/>
          <a:p>
            <a:pPr>
              <a:spcAft>
                <a:spcPts val="600"/>
              </a:spcAft>
            </a:pPr>
            <a:fld id="{5D497A02-9C4D-4883-9CD4-C709B5129C2F}" type="datetime1">
              <a:rPr lang="en-US"/>
              <a:pPr>
                <a:spcAft>
                  <a:spcPts val="600"/>
                </a:spcAft>
              </a:pPr>
              <a:t>11/21/2025</a:t>
            </a:fld>
            <a:endParaRPr lang="en-US"/>
          </a:p>
        </p:txBody>
      </p:sp>
      <p:sp>
        <p:nvSpPr>
          <p:cNvPr id="18" name="Footer Placeholder 5">
            <a:extLst>
              <a:ext uri="{FF2B5EF4-FFF2-40B4-BE49-F238E27FC236}">
                <a16:creationId xmlns:a16="http://schemas.microsoft.com/office/drawing/2014/main" id="{A7671AA3-BB1A-4045-6F31-408999BCEE22}"/>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20" name="Slide Number Placeholder 6">
            <a:extLst>
              <a:ext uri="{FF2B5EF4-FFF2-40B4-BE49-F238E27FC236}">
                <a16:creationId xmlns:a16="http://schemas.microsoft.com/office/drawing/2014/main" id="{689CCD2A-C048-2FAA-ED88-EE6ED3C0B7FB}"/>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11</a:t>
            </a:fld>
            <a:endParaRPr lang="en-US"/>
          </a:p>
        </p:txBody>
      </p:sp>
    </p:spTree>
    <p:extLst>
      <p:ext uri="{BB962C8B-B14F-4D97-AF65-F5344CB8AC3E}">
        <p14:creationId xmlns:p14="http://schemas.microsoft.com/office/powerpoint/2010/main" val="105533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3EE99-8FCF-9903-71AB-56B4AF9EDC8D}"/>
            </a:ext>
          </a:extLst>
        </p:cNvPr>
        <p:cNvGrpSpPr/>
        <p:nvPr/>
      </p:nvGrpSpPr>
      <p:grpSpPr>
        <a:xfrm>
          <a:off x="0" y="0"/>
          <a:ext cx="0" cy="0"/>
          <a:chOff x="0" y="0"/>
          <a:chExt cx="0" cy="0"/>
        </a:xfrm>
      </p:grpSpPr>
      <p:pic>
        <p:nvPicPr>
          <p:cNvPr id="2" name="Picture 1" descr="A graph of blue bars&#10;&#10;AI-generated content may be incorrect.">
            <a:extLst>
              <a:ext uri="{FF2B5EF4-FFF2-40B4-BE49-F238E27FC236}">
                <a16:creationId xmlns:a16="http://schemas.microsoft.com/office/drawing/2014/main" id="{94685D64-D179-C2CB-016C-F55ECE09D4AA}"/>
              </a:ext>
            </a:extLst>
          </p:cNvPr>
          <p:cNvPicPr>
            <a:picLocks noChangeAspect="1"/>
          </p:cNvPicPr>
          <p:nvPr/>
        </p:nvPicPr>
        <p:blipFill>
          <a:blip r:embed="rId2"/>
          <a:stretch>
            <a:fillRect/>
          </a:stretch>
        </p:blipFill>
        <p:spPr>
          <a:xfrm>
            <a:off x="6874547" y="1790135"/>
            <a:ext cx="4590565" cy="3277730"/>
          </a:xfrm>
          <a:prstGeom prst="rect">
            <a:avLst/>
          </a:prstGeom>
        </p:spPr>
      </p:pic>
      <p:sp>
        <p:nvSpPr>
          <p:cNvPr id="11" name="Title 10">
            <a:extLst>
              <a:ext uri="{FF2B5EF4-FFF2-40B4-BE49-F238E27FC236}">
                <a16:creationId xmlns:a16="http://schemas.microsoft.com/office/drawing/2014/main" id="{5822B035-46E6-FF51-40B5-B228E1F8BB66}"/>
              </a:ext>
            </a:extLst>
          </p:cNvPr>
          <p:cNvSpPr>
            <a:spLocks noGrp="1"/>
          </p:cNvSpPr>
          <p:nvPr>
            <p:ph type="title"/>
          </p:nvPr>
        </p:nvSpPr>
        <p:spPr>
          <a:xfrm>
            <a:off x="700635" y="922096"/>
            <a:ext cx="10691265" cy="1127930"/>
          </a:xfrm>
        </p:spPr>
        <p:txBody>
          <a:bodyPr vert="horz" lIns="91440" tIns="45720" rIns="91440" bIns="45720" rtlCol="0" anchor="t">
            <a:normAutofit/>
          </a:bodyPr>
          <a:lstStyle/>
          <a:p>
            <a:r>
              <a:rPr lang="en-US" b="1"/>
              <a:t>TASK 2 (6): histogram</a:t>
            </a:r>
          </a:p>
        </p:txBody>
      </p:sp>
      <p:sp>
        <p:nvSpPr>
          <p:cNvPr id="14" name="Text Placeholder 3">
            <a:extLst>
              <a:ext uri="{FF2B5EF4-FFF2-40B4-BE49-F238E27FC236}">
                <a16:creationId xmlns:a16="http://schemas.microsoft.com/office/drawing/2014/main" id="{A0179B60-948A-54F1-204D-0D5FBDC626B2}"/>
              </a:ext>
            </a:extLst>
          </p:cNvPr>
          <p:cNvSpPr>
            <a:spLocks noGrp="1"/>
          </p:cNvSpPr>
          <p:nvPr>
            <p:ph sz="half" idx="1"/>
          </p:nvPr>
        </p:nvSpPr>
        <p:spPr>
          <a:xfrm>
            <a:off x="709086" y="2057811"/>
            <a:ext cx="5939824" cy="3915287"/>
          </a:xfrm>
        </p:spPr>
        <p:txBody>
          <a:bodyPr vert="horz" lIns="91440" tIns="45720" rIns="91440" bIns="45720" rtlCol="0" anchor="t">
            <a:normAutofit/>
          </a:bodyPr>
          <a:lstStyle/>
          <a:p>
            <a:pPr marL="0" indent="0">
              <a:spcBef>
                <a:spcPts val="0"/>
              </a:spcBef>
              <a:spcAft>
                <a:spcPts val="600"/>
              </a:spcAft>
              <a:buNone/>
            </a:pPr>
            <a:r>
              <a:rPr lang="en-US" b="1">
                <a:ea typeface="+mn-lt"/>
                <a:cs typeface="+mn-lt"/>
              </a:rPr>
              <a:t>The histogram shows several noticeable peaks, especially around the 40-50 USD range. This indicates that many customers tend to spend within this mid-range amount. Additional peaks appear in the 70-90 USD range, indicating another active group of moderate to high spenders. </a:t>
            </a:r>
          </a:p>
          <a:p>
            <a:pPr marL="0" indent="0">
              <a:spcBef>
                <a:spcPts val="0"/>
              </a:spcBef>
              <a:spcAft>
                <a:spcPts val="600"/>
              </a:spcAft>
              <a:buNone/>
            </a:pPr>
            <a:endParaRPr lang="en-US" b="1">
              <a:ea typeface="+mn-lt"/>
              <a:cs typeface="+mn-lt"/>
            </a:endParaRPr>
          </a:p>
          <a:p>
            <a:pPr marL="0" indent="0">
              <a:spcBef>
                <a:spcPts val="0"/>
              </a:spcBef>
              <a:spcAft>
                <a:spcPts val="600"/>
              </a:spcAft>
              <a:buNone/>
            </a:pPr>
            <a:r>
              <a:rPr lang="en-US" b="1">
                <a:ea typeface="+mn-lt"/>
                <a:cs typeface="+mn-lt"/>
              </a:rPr>
              <a:t>Overall, the pattern highlights that customers consistently cluster around mid-range purchase amounts, reflecting stable and predictable spending behavior across the dataset.</a:t>
            </a:r>
            <a:endParaRPr lang="en-US" b="1"/>
          </a:p>
        </p:txBody>
      </p:sp>
      <p:sp>
        <p:nvSpPr>
          <p:cNvPr id="16" name="Date Placeholder 4">
            <a:extLst>
              <a:ext uri="{FF2B5EF4-FFF2-40B4-BE49-F238E27FC236}">
                <a16:creationId xmlns:a16="http://schemas.microsoft.com/office/drawing/2014/main" id="{660471F8-8799-8FF9-5A2F-FC3FBADABC8B}"/>
              </a:ext>
            </a:extLst>
          </p:cNvPr>
          <p:cNvSpPr>
            <a:spLocks noGrp="1"/>
          </p:cNvSpPr>
          <p:nvPr>
            <p:ph type="dt" sz="half" idx="10"/>
          </p:nvPr>
        </p:nvSpPr>
        <p:spPr>
          <a:xfrm>
            <a:off x="8369448" y="6356350"/>
            <a:ext cx="2592594" cy="365125"/>
          </a:xfrm>
        </p:spPr>
        <p:txBody>
          <a:bodyPr anchor="ctr">
            <a:normAutofit/>
          </a:bodyPr>
          <a:lstStyle/>
          <a:p>
            <a:pPr>
              <a:spcAft>
                <a:spcPts val="600"/>
              </a:spcAft>
            </a:pPr>
            <a:fld id="{5D497A02-9C4D-4883-9CD4-C709B5129C2F}" type="datetime1">
              <a:rPr lang="en-US"/>
              <a:pPr>
                <a:spcAft>
                  <a:spcPts val="600"/>
                </a:spcAft>
              </a:pPr>
              <a:t>11/21/2025</a:t>
            </a:fld>
            <a:endParaRPr lang="en-US"/>
          </a:p>
        </p:txBody>
      </p:sp>
      <p:sp>
        <p:nvSpPr>
          <p:cNvPr id="18" name="Footer Placeholder 5">
            <a:extLst>
              <a:ext uri="{FF2B5EF4-FFF2-40B4-BE49-F238E27FC236}">
                <a16:creationId xmlns:a16="http://schemas.microsoft.com/office/drawing/2014/main" id="{AE99DF06-9988-46FD-CED5-F04F2ECC44E5}"/>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20" name="Slide Number Placeholder 6">
            <a:extLst>
              <a:ext uri="{FF2B5EF4-FFF2-40B4-BE49-F238E27FC236}">
                <a16:creationId xmlns:a16="http://schemas.microsoft.com/office/drawing/2014/main" id="{0B289606-1A81-8768-FDA4-C89A6544555C}"/>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12</a:t>
            </a:fld>
            <a:endParaRPr lang="en-US"/>
          </a:p>
        </p:txBody>
      </p:sp>
    </p:spTree>
    <p:extLst>
      <p:ext uri="{BB962C8B-B14F-4D97-AF65-F5344CB8AC3E}">
        <p14:creationId xmlns:p14="http://schemas.microsoft.com/office/powerpoint/2010/main" val="2697128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55AD2-50CA-8654-9C47-776EF5D53BAA}"/>
            </a:ext>
          </a:extLst>
        </p:cNvPr>
        <p:cNvGrpSpPr/>
        <p:nvPr/>
      </p:nvGrpSpPr>
      <p:grpSpPr>
        <a:xfrm>
          <a:off x="0" y="0"/>
          <a:ext cx="0" cy="0"/>
          <a:chOff x="0" y="0"/>
          <a:chExt cx="0" cy="0"/>
        </a:xfrm>
      </p:grpSpPr>
      <p:pic>
        <p:nvPicPr>
          <p:cNvPr id="2" name="Picture 1" descr="A graph of blue bars&#10;&#10;AI-generated content may be incorrect.">
            <a:extLst>
              <a:ext uri="{FF2B5EF4-FFF2-40B4-BE49-F238E27FC236}">
                <a16:creationId xmlns:a16="http://schemas.microsoft.com/office/drawing/2014/main" id="{40E8C254-5770-CFD8-BD77-699EF578096A}"/>
              </a:ext>
            </a:extLst>
          </p:cNvPr>
          <p:cNvPicPr>
            <a:picLocks noChangeAspect="1"/>
          </p:cNvPicPr>
          <p:nvPr/>
        </p:nvPicPr>
        <p:blipFill>
          <a:blip r:embed="rId2"/>
          <a:stretch>
            <a:fillRect/>
          </a:stretch>
        </p:blipFill>
        <p:spPr>
          <a:xfrm>
            <a:off x="6874547" y="1790135"/>
            <a:ext cx="4590565" cy="3277730"/>
          </a:xfrm>
          <a:prstGeom prst="rect">
            <a:avLst/>
          </a:prstGeom>
        </p:spPr>
      </p:pic>
      <p:sp>
        <p:nvSpPr>
          <p:cNvPr id="11" name="Title 10">
            <a:extLst>
              <a:ext uri="{FF2B5EF4-FFF2-40B4-BE49-F238E27FC236}">
                <a16:creationId xmlns:a16="http://schemas.microsoft.com/office/drawing/2014/main" id="{B72880E9-BE6A-82AE-86C0-FB80B4E990C9}"/>
              </a:ext>
            </a:extLst>
          </p:cNvPr>
          <p:cNvSpPr>
            <a:spLocks noGrp="1"/>
          </p:cNvSpPr>
          <p:nvPr>
            <p:ph type="title"/>
          </p:nvPr>
        </p:nvSpPr>
        <p:spPr>
          <a:xfrm>
            <a:off x="700635" y="922096"/>
            <a:ext cx="10691265" cy="1127930"/>
          </a:xfrm>
        </p:spPr>
        <p:txBody>
          <a:bodyPr vert="horz" lIns="91440" tIns="45720" rIns="91440" bIns="45720" rtlCol="0" anchor="t">
            <a:normAutofit/>
          </a:bodyPr>
          <a:lstStyle/>
          <a:p>
            <a:r>
              <a:rPr lang="en-US" b="1"/>
              <a:t>TASK 2 (6): </a:t>
            </a:r>
            <a:r>
              <a:rPr lang="en-US" b="1">
                <a:ea typeface="+mj-lt"/>
                <a:cs typeface="+mj-lt"/>
              </a:rPr>
              <a:t>Correlation Heatmap (numeric)</a:t>
            </a:r>
            <a:endParaRPr lang="en-US" b="1" err="1"/>
          </a:p>
        </p:txBody>
      </p:sp>
      <p:sp>
        <p:nvSpPr>
          <p:cNvPr id="14" name="Text Placeholder 3">
            <a:extLst>
              <a:ext uri="{FF2B5EF4-FFF2-40B4-BE49-F238E27FC236}">
                <a16:creationId xmlns:a16="http://schemas.microsoft.com/office/drawing/2014/main" id="{DA372E62-4734-62A4-5C3A-289289553BB8}"/>
              </a:ext>
            </a:extLst>
          </p:cNvPr>
          <p:cNvSpPr>
            <a:spLocks noGrp="1"/>
          </p:cNvSpPr>
          <p:nvPr>
            <p:ph sz="half" idx="1"/>
          </p:nvPr>
        </p:nvSpPr>
        <p:spPr>
          <a:xfrm>
            <a:off x="715489" y="1788870"/>
            <a:ext cx="5939824" cy="3915287"/>
          </a:xfrm>
        </p:spPr>
        <p:txBody>
          <a:bodyPr vert="horz" lIns="91440" tIns="45720" rIns="91440" bIns="45720" rtlCol="0" anchor="t">
            <a:noAutofit/>
          </a:bodyPr>
          <a:lstStyle/>
          <a:p>
            <a:pPr marL="0" indent="0">
              <a:buNone/>
            </a:pPr>
            <a:r>
              <a:rPr lang="en-US" sz="1400" b="1" dirty="0"/>
              <a:t>What the Heat Map Shows:-</a:t>
            </a:r>
            <a:endParaRPr lang="en-US" sz="1400" dirty="0"/>
          </a:p>
          <a:p>
            <a:pPr marL="0" indent="0">
              <a:buNone/>
            </a:pPr>
            <a:r>
              <a:rPr lang="en-US" sz="1400" dirty="0"/>
              <a:t>Each square represents a correlation value between two variables.</a:t>
            </a:r>
            <a:br>
              <a:rPr lang="en-US" sz="1400" dirty="0"/>
            </a:br>
            <a:r>
              <a:rPr lang="en-US" sz="1400" dirty="0"/>
              <a:t>The color shows the strength of the relationship:</a:t>
            </a:r>
          </a:p>
          <a:p>
            <a:pPr marL="0" indent="0">
              <a:buNone/>
            </a:pPr>
            <a:r>
              <a:rPr lang="en-US" sz="1400" b="1" dirty="0"/>
              <a:t>Yellow </a:t>
            </a:r>
            <a:r>
              <a:rPr lang="en-US" sz="1400" dirty="0"/>
              <a:t>= strong positive correlation (close to +1)</a:t>
            </a:r>
          </a:p>
          <a:p>
            <a:pPr marL="0" indent="0">
              <a:buNone/>
            </a:pPr>
            <a:r>
              <a:rPr lang="en-US" sz="1400" b="1" dirty="0"/>
              <a:t>Dark purple/blue</a:t>
            </a:r>
            <a:r>
              <a:rPr lang="en-US" sz="1400" dirty="0"/>
              <a:t> = weak or no correlation (close to 0)</a:t>
            </a:r>
          </a:p>
          <a:p>
            <a:pPr marL="0" indent="0">
              <a:buNone/>
            </a:pPr>
            <a:r>
              <a:rPr lang="en-US" sz="1400" b="1" dirty="0"/>
              <a:t>• Most relationships are weak:</a:t>
            </a:r>
            <a:br>
              <a:rPr lang="en-US" sz="1400" b="1" dirty="0"/>
            </a:br>
            <a:r>
              <a:rPr lang="en-US" sz="1400" b="1" dirty="0"/>
              <a:t> </a:t>
            </a:r>
            <a:r>
              <a:rPr lang="en-US" sz="1400" dirty="0"/>
              <a:t>The chart shows mostly dark colors, meaning that the numeric features in this dataset </a:t>
            </a:r>
            <a:r>
              <a:rPr lang="en-US" sz="1400" b="1" dirty="0"/>
              <a:t>do not strongly influence each other.</a:t>
            </a:r>
          </a:p>
          <a:p>
            <a:pPr marL="0" indent="0">
              <a:buNone/>
            </a:pPr>
            <a:r>
              <a:rPr lang="en-US" sz="1400" b="1" dirty="0"/>
              <a:t>• Purchase Amount has almost no strong correlations:</a:t>
            </a:r>
            <a:br>
              <a:rPr lang="en-US" sz="1400" b="1" dirty="0"/>
            </a:br>
            <a:r>
              <a:rPr lang="en-US" sz="1400" dirty="0"/>
              <a:t> This confirms earlier findings,</a:t>
            </a:r>
            <a:r>
              <a:rPr lang="en-US" sz="1400" b="1" dirty="0"/>
              <a:t> spending amount is not strongly affected by age, review rating, or previous purchases.</a:t>
            </a:r>
          </a:p>
          <a:p>
            <a:pPr marL="0" indent="0">
              <a:buNone/>
            </a:pPr>
            <a:r>
              <a:rPr lang="en-US" sz="1400" dirty="0"/>
              <a:t>•</a:t>
            </a:r>
            <a:r>
              <a:rPr lang="en-US" sz="1400" b="1" dirty="0"/>
              <a:t> Customer ID is not related to anything.</a:t>
            </a:r>
            <a:br>
              <a:rPr lang="en-US" sz="1400" b="1" dirty="0"/>
            </a:br>
            <a:r>
              <a:rPr lang="en-US" sz="1400" dirty="0"/>
              <a:t> It is just an identification number with</a:t>
            </a:r>
            <a:r>
              <a:rPr lang="en-US" sz="1400" b="1" dirty="0"/>
              <a:t> no relation for prediction.</a:t>
            </a:r>
            <a:endParaRPr lang="en-US" sz="1400" dirty="0"/>
          </a:p>
        </p:txBody>
      </p:sp>
      <p:sp>
        <p:nvSpPr>
          <p:cNvPr id="16" name="Date Placeholder 4">
            <a:extLst>
              <a:ext uri="{FF2B5EF4-FFF2-40B4-BE49-F238E27FC236}">
                <a16:creationId xmlns:a16="http://schemas.microsoft.com/office/drawing/2014/main" id="{0F9F4967-F4EF-46B1-52EF-6836152F9A85}"/>
              </a:ext>
            </a:extLst>
          </p:cNvPr>
          <p:cNvSpPr>
            <a:spLocks noGrp="1"/>
          </p:cNvSpPr>
          <p:nvPr>
            <p:ph type="dt" sz="half" idx="10"/>
          </p:nvPr>
        </p:nvSpPr>
        <p:spPr>
          <a:xfrm>
            <a:off x="8369448" y="6356350"/>
            <a:ext cx="2592594" cy="365125"/>
          </a:xfrm>
        </p:spPr>
        <p:txBody>
          <a:bodyPr anchor="ctr">
            <a:normAutofit/>
          </a:bodyPr>
          <a:lstStyle/>
          <a:p>
            <a:pPr>
              <a:spcAft>
                <a:spcPts val="600"/>
              </a:spcAft>
            </a:pPr>
            <a:fld id="{5D497A02-9C4D-4883-9CD4-C709B5129C2F}" type="datetime1">
              <a:rPr lang="en-US"/>
              <a:pPr>
                <a:spcAft>
                  <a:spcPts val="600"/>
                </a:spcAft>
              </a:pPr>
              <a:t>11/21/2025</a:t>
            </a:fld>
            <a:endParaRPr lang="en-US"/>
          </a:p>
        </p:txBody>
      </p:sp>
      <p:sp>
        <p:nvSpPr>
          <p:cNvPr id="18" name="Footer Placeholder 5">
            <a:extLst>
              <a:ext uri="{FF2B5EF4-FFF2-40B4-BE49-F238E27FC236}">
                <a16:creationId xmlns:a16="http://schemas.microsoft.com/office/drawing/2014/main" id="{F40BF554-2308-8D37-8674-C3DA8465C6C3}"/>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20" name="Slide Number Placeholder 6">
            <a:extLst>
              <a:ext uri="{FF2B5EF4-FFF2-40B4-BE49-F238E27FC236}">
                <a16:creationId xmlns:a16="http://schemas.microsoft.com/office/drawing/2014/main" id="{35DA1C9B-6416-77A3-A75F-C9B08EED9358}"/>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13</a:t>
            </a:fld>
            <a:endParaRPr lang="en-US"/>
          </a:p>
        </p:txBody>
      </p:sp>
      <p:pic>
        <p:nvPicPr>
          <p:cNvPr id="4" name="Content Placeholder 2">
            <a:extLst>
              <a:ext uri="{FF2B5EF4-FFF2-40B4-BE49-F238E27FC236}">
                <a16:creationId xmlns:a16="http://schemas.microsoft.com/office/drawing/2014/main" id="{5B69DA5B-8F7B-18DA-5D4F-5C501B32F3ED}"/>
              </a:ext>
            </a:extLst>
          </p:cNvPr>
          <p:cNvPicPr>
            <a:picLocks noChangeAspect="1"/>
          </p:cNvPicPr>
          <p:nvPr/>
        </p:nvPicPr>
        <p:blipFill>
          <a:blip r:embed="rId3"/>
          <a:stretch>
            <a:fillRect/>
          </a:stretch>
        </p:blipFill>
        <p:spPr>
          <a:xfrm>
            <a:off x="6870582" y="1750955"/>
            <a:ext cx="4557416" cy="3576474"/>
          </a:xfrm>
          <a:prstGeom prst="rect">
            <a:avLst/>
          </a:prstGeom>
          <a:noFill/>
        </p:spPr>
      </p:pic>
    </p:spTree>
    <p:extLst>
      <p:ext uri="{BB962C8B-B14F-4D97-AF65-F5344CB8AC3E}">
        <p14:creationId xmlns:p14="http://schemas.microsoft.com/office/powerpoint/2010/main" val="1741129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7DBDFBF-E1BB-E26D-BA20-F35D85546E65}"/>
              </a:ext>
            </a:extLst>
          </p:cNvPr>
          <p:cNvSpPr>
            <a:spLocks noGrp="1"/>
          </p:cNvSpPr>
          <p:nvPr>
            <p:ph type="title"/>
          </p:nvPr>
        </p:nvSpPr>
        <p:spPr>
          <a:xfrm>
            <a:off x="3263329" y="122803"/>
            <a:ext cx="6365985" cy="1352692"/>
          </a:xfrm>
        </p:spPr>
        <p:txBody>
          <a:bodyPr/>
          <a:lstStyle/>
          <a:p>
            <a:r>
              <a:rPr lang="en-US" b="1" dirty="0">
                <a:ea typeface="+mj-lt"/>
                <a:cs typeface="+mj-lt"/>
              </a:rPr>
              <a:t>Hypothesis  Test Conclusion:</a:t>
            </a:r>
            <a:endParaRPr lang="en-US" b="1" dirty="0"/>
          </a:p>
        </p:txBody>
      </p:sp>
      <p:pic>
        <p:nvPicPr>
          <p:cNvPr id="4" name="Content Placeholder 3" descr="A computer screen with white text&#10;&#10;AI-generated content may be incorrect.">
            <a:extLst>
              <a:ext uri="{FF2B5EF4-FFF2-40B4-BE49-F238E27FC236}">
                <a16:creationId xmlns:a16="http://schemas.microsoft.com/office/drawing/2014/main" id="{24B78D44-A7F9-D257-68C7-1974B114F852}"/>
              </a:ext>
            </a:extLst>
          </p:cNvPr>
          <p:cNvPicPr>
            <a:picLocks noGrp="1" noChangeAspect="1"/>
          </p:cNvPicPr>
          <p:nvPr>
            <p:ph type="pic" idx="1"/>
          </p:nvPr>
        </p:nvPicPr>
        <p:blipFill>
          <a:blip r:embed="rId2"/>
          <a:stretch/>
        </p:blipFill>
        <p:spPr>
          <a:xfrm>
            <a:off x="3049588" y="3680142"/>
            <a:ext cx="6172200" cy="2005965"/>
          </a:xfrm>
          <a:prstGeom prst="rect">
            <a:avLst/>
          </a:prstGeom>
          <a:noFill/>
        </p:spPr>
      </p:pic>
      <p:sp>
        <p:nvSpPr>
          <p:cNvPr id="11" name="Text Placeholder 3">
            <a:extLst>
              <a:ext uri="{FF2B5EF4-FFF2-40B4-BE49-F238E27FC236}">
                <a16:creationId xmlns:a16="http://schemas.microsoft.com/office/drawing/2014/main" id="{DD1CA3E7-6D0E-4B25-51C8-7CEAA95BC660}"/>
              </a:ext>
            </a:extLst>
          </p:cNvPr>
          <p:cNvSpPr>
            <a:spLocks noGrp="1"/>
          </p:cNvSpPr>
          <p:nvPr>
            <p:ph type="body" sz="half" idx="2"/>
          </p:nvPr>
        </p:nvSpPr>
        <p:spPr>
          <a:xfrm>
            <a:off x="999865" y="1732085"/>
            <a:ext cx="10187707" cy="3902441"/>
          </a:xfrm>
        </p:spPr>
        <p:txBody>
          <a:bodyPr vert="horz" lIns="91440" tIns="45720" rIns="91440" bIns="45720" rtlCol="0" anchor="t">
            <a:normAutofit/>
          </a:bodyPr>
          <a:lstStyle/>
          <a:p>
            <a:r>
              <a:rPr lang="en-US">
                <a:ea typeface="+mn-lt"/>
                <a:cs typeface="+mn-lt"/>
              </a:rPr>
              <a:t>The hypothesis tests on the </a:t>
            </a:r>
            <a:r>
              <a:rPr lang="en-US" b="1">
                <a:ea typeface="+mn-lt"/>
                <a:cs typeface="+mn-lt"/>
              </a:rPr>
              <a:t>Shopping Behavior dataset</a:t>
            </a:r>
            <a:r>
              <a:rPr lang="en-US">
                <a:ea typeface="+mn-lt"/>
                <a:cs typeface="+mn-lt"/>
              </a:rPr>
              <a:t> show that there is </a:t>
            </a:r>
            <a:r>
              <a:rPr lang="en-US" b="1">
                <a:ea typeface="+mn-lt"/>
                <a:cs typeface="+mn-lt"/>
              </a:rPr>
              <a:t>no significant relationship</a:t>
            </a:r>
            <a:r>
              <a:rPr lang="en-US">
                <a:ea typeface="+mn-lt"/>
                <a:cs typeface="+mn-lt"/>
              </a:rPr>
              <a:t> between the independent variables and how much customers spend. Both the Pearson and Spearman tests gave a correlation of </a:t>
            </a:r>
            <a:r>
              <a:rPr lang="en-US" b="1">
                <a:ea typeface="+mn-lt"/>
                <a:cs typeface="+mn-lt"/>
              </a:rPr>
              <a:t>–0.01</a:t>
            </a:r>
            <a:r>
              <a:rPr lang="en-US">
                <a:ea typeface="+mn-lt"/>
                <a:cs typeface="+mn-lt"/>
              </a:rPr>
              <a:t> with </a:t>
            </a:r>
            <a:r>
              <a:rPr lang="en-US" b="1">
                <a:ea typeface="+mn-lt"/>
                <a:cs typeface="+mn-lt"/>
              </a:rPr>
              <a:t>p-values greater than 0.05</a:t>
            </a:r>
            <a:r>
              <a:rPr lang="en-US">
                <a:ea typeface="+mn-lt"/>
                <a:cs typeface="+mn-lt"/>
              </a:rPr>
              <a:t>, meaning </a:t>
            </a:r>
            <a:r>
              <a:rPr lang="en-US" b="1">
                <a:ea typeface="+mn-lt"/>
                <a:cs typeface="+mn-lt"/>
              </a:rPr>
              <a:t>Age does not affect Purchase Amount</a:t>
            </a:r>
            <a:r>
              <a:rPr lang="en-US">
                <a:ea typeface="+mn-lt"/>
                <a:cs typeface="+mn-lt"/>
              </a:rPr>
              <a:t>. The Chi-Square test also showed a </a:t>
            </a:r>
            <a:r>
              <a:rPr lang="en-US" b="1">
                <a:ea typeface="+mn-lt"/>
                <a:cs typeface="+mn-lt"/>
              </a:rPr>
              <a:t>very high p-value (0.819)</a:t>
            </a:r>
            <a:r>
              <a:rPr lang="en-US">
                <a:ea typeface="+mn-lt"/>
                <a:cs typeface="+mn-lt"/>
              </a:rPr>
              <a:t>, confirming that </a:t>
            </a:r>
            <a:r>
              <a:rPr lang="en-US" b="1">
                <a:ea typeface="+mn-lt"/>
                <a:cs typeface="+mn-lt"/>
              </a:rPr>
              <a:t>Gender is not related to spending behavior</a:t>
            </a:r>
            <a:r>
              <a:rPr lang="en-US">
                <a:ea typeface="+mn-lt"/>
                <a:cs typeface="+mn-lt"/>
              </a:rPr>
              <a:t>. Overall, the results clearly indicate that </a:t>
            </a:r>
            <a:r>
              <a:rPr lang="en-US" b="1">
                <a:ea typeface="+mn-lt"/>
                <a:cs typeface="+mn-lt"/>
              </a:rPr>
              <a:t>neither age nor gender has any meaningful influence on Purchase Amount</a:t>
            </a:r>
            <a:r>
              <a:rPr lang="en-US">
                <a:ea typeface="+mn-lt"/>
                <a:cs typeface="+mn-lt"/>
              </a:rPr>
              <a:t> in this dataset.</a:t>
            </a:r>
            <a:endParaRPr lang="en-US"/>
          </a:p>
          <a:p>
            <a:endParaRPr lang="en-US"/>
          </a:p>
        </p:txBody>
      </p:sp>
      <p:sp>
        <p:nvSpPr>
          <p:cNvPr id="13" name="Date Placeholder 4">
            <a:extLst>
              <a:ext uri="{FF2B5EF4-FFF2-40B4-BE49-F238E27FC236}">
                <a16:creationId xmlns:a16="http://schemas.microsoft.com/office/drawing/2014/main" id="{A63FFCC3-CF74-FA3F-BA1C-F7AC91DE1D48}"/>
              </a:ext>
            </a:extLst>
          </p:cNvPr>
          <p:cNvSpPr>
            <a:spLocks noGrp="1"/>
          </p:cNvSpPr>
          <p:nvPr>
            <p:ph type="dt" sz="half" idx="10"/>
          </p:nvPr>
        </p:nvSpPr>
        <p:spPr>
          <a:xfrm>
            <a:off x="8369448" y="6356350"/>
            <a:ext cx="2592594" cy="365125"/>
          </a:xfrm>
        </p:spPr>
        <p:txBody>
          <a:bodyPr/>
          <a:lstStyle/>
          <a:p>
            <a:pPr>
              <a:spcAft>
                <a:spcPts val="600"/>
              </a:spcAft>
            </a:pPr>
            <a:fld id="{8DD5D513-EE09-498C-8800-1887FA54D9FD}" type="datetime1">
              <a:pPr>
                <a:spcAft>
                  <a:spcPts val="600"/>
                </a:spcAft>
              </a:pPr>
              <a:t>11/21/2025</a:t>
            </a:fld>
            <a:endParaRPr lang="en-US"/>
          </a:p>
        </p:txBody>
      </p:sp>
      <p:sp>
        <p:nvSpPr>
          <p:cNvPr id="15" name="Footer Placeholder 5">
            <a:extLst>
              <a:ext uri="{FF2B5EF4-FFF2-40B4-BE49-F238E27FC236}">
                <a16:creationId xmlns:a16="http://schemas.microsoft.com/office/drawing/2014/main" id="{E29FC34C-42A5-3386-9456-81F8FDD62BF1}"/>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
        <p:nvSpPr>
          <p:cNvPr id="17" name="Slide Number Placeholder 6">
            <a:extLst>
              <a:ext uri="{FF2B5EF4-FFF2-40B4-BE49-F238E27FC236}">
                <a16:creationId xmlns:a16="http://schemas.microsoft.com/office/drawing/2014/main" id="{AA4DEB6C-9538-14C1-AAAA-4B8DED596AB9}"/>
              </a:ext>
            </a:extLst>
          </p:cNvPr>
          <p:cNvSpPr>
            <a:spLocks noGrp="1"/>
          </p:cNvSpPr>
          <p:nvPr>
            <p:ph type="sldNum" sz="quarter" idx="12"/>
          </p:nvPr>
        </p:nvSpPr>
        <p:spPr>
          <a:xfrm>
            <a:off x="10919012" y="6356350"/>
            <a:ext cx="672354" cy="365125"/>
          </a:xfrm>
        </p:spPr>
        <p:txBody>
          <a:bodyPr/>
          <a:lstStyle/>
          <a:p>
            <a:pPr>
              <a:spcAft>
                <a:spcPts val="600"/>
              </a:spcAft>
            </a:pPr>
            <a:fld id="{E30AF5A0-43BB-4336-8627-9123B9144D80}" type="slidenum">
              <a:rPr lang="en-US" dirty="0"/>
              <a:pPr>
                <a:spcAft>
                  <a:spcPts val="600"/>
                </a:spcAft>
              </a:pPr>
              <a:t>14</a:t>
            </a:fld>
            <a:endParaRPr lang="en-US"/>
          </a:p>
        </p:txBody>
      </p:sp>
    </p:spTree>
    <p:extLst>
      <p:ext uri="{BB962C8B-B14F-4D97-AF65-F5344CB8AC3E}">
        <p14:creationId xmlns:p14="http://schemas.microsoft.com/office/powerpoint/2010/main" val="1670982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2A7C8-DB32-2115-A825-954C92535973}"/>
              </a:ext>
            </a:extLst>
          </p:cNvPr>
          <p:cNvSpPr>
            <a:spLocks noGrp="1"/>
          </p:cNvSpPr>
          <p:nvPr>
            <p:ph type="title"/>
          </p:nvPr>
        </p:nvSpPr>
        <p:spPr/>
        <p:txBody>
          <a:bodyPr>
            <a:normAutofit/>
          </a:bodyPr>
          <a:lstStyle/>
          <a:p>
            <a:r>
              <a:rPr lang="en-US" sz="3600" b="1" dirty="0"/>
              <a:t>Task 2 (8) </a:t>
            </a:r>
            <a:r>
              <a:rPr lang="en-US" sz="3600" b="1" dirty="0">
                <a:ea typeface="+mj-lt"/>
                <a:cs typeface="+mj-lt"/>
              </a:rPr>
              <a:t>One-Sample  T-Test Using  the Population Mean from  the Full Dataset</a:t>
            </a:r>
            <a:endParaRPr lang="en-US" sz="3600" b="1" dirty="0"/>
          </a:p>
        </p:txBody>
      </p:sp>
      <p:sp>
        <p:nvSpPr>
          <p:cNvPr id="5" name="Content Placeholder 4">
            <a:extLst>
              <a:ext uri="{FF2B5EF4-FFF2-40B4-BE49-F238E27FC236}">
                <a16:creationId xmlns:a16="http://schemas.microsoft.com/office/drawing/2014/main" id="{48302385-4827-B6D2-827E-E03EC9458121}"/>
              </a:ext>
            </a:extLst>
          </p:cNvPr>
          <p:cNvSpPr>
            <a:spLocks noGrp="1"/>
          </p:cNvSpPr>
          <p:nvPr>
            <p:ph idx="1"/>
          </p:nvPr>
        </p:nvSpPr>
        <p:spPr>
          <a:xfrm>
            <a:off x="700635" y="2293126"/>
            <a:ext cx="11158297" cy="3636088"/>
          </a:xfrm>
        </p:spPr>
        <p:txBody>
          <a:bodyPr vert="horz" lIns="91440" tIns="45720" rIns="91440" bIns="45720" rtlCol="0" anchor="t">
            <a:normAutofit/>
          </a:bodyPr>
          <a:lstStyle/>
          <a:p>
            <a:pPr marL="0" indent="0">
              <a:buNone/>
            </a:pPr>
            <a:r>
              <a:rPr lang="en-US" dirty="0">
                <a:ea typeface="+mn-lt"/>
                <a:cs typeface="+mn-lt"/>
              </a:rPr>
              <a:t>The sample mean (61.23) is very close to the population mean (59.76). With a p-value of 0.3033</a:t>
            </a:r>
            <a:endParaRPr lang="en-US" dirty="0"/>
          </a:p>
          <a:p>
            <a:pPr marL="0" indent="0">
              <a:buNone/>
            </a:pPr>
            <a:r>
              <a:rPr lang="en-US" dirty="0">
                <a:ea typeface="+mn-lt"/>
                <a:cs typeface="+mn-lt"/>
              </a:rPr>
              <a:t>(&gt; 0.05), there is </a:t>
            </a:r>
            <a:r>
              <a:rPr lang="en-US" b="1" dirty="0">
                <a:ea typeface="+mn-lt"/>
                <a:cs typeface="+mn-lt"/>
              </a:rPr>
              <a:t>no significant difference</a:t>
            </a:r>
            <a:r>
              <a:rPr lang="en-US" dirty="0">
                <a:ea typeface="+mn-lt"/>
                <a:cs typeface="+mn-lt"/>
              </a:rPr>
              <a:t>, meaning the sample </a:t>
            </a:r>
            <a:r>
              <a:rPr lang="en-US" b="1" dirty="0">
                <a:ea typeface="+mn-lt"/>
                <a:cs typeface="+mn-lt"/>
              </a:rPr>
              <a:t>represents the population well</a:t>
            </a:r>
            <a:r>
              <a:rPr lang="en-US" dirty="0">
                <a:ea typeface="+mn-lt"/>
                <a:cs typeface="+mn-lt"/>
              </a:rPr>
              <a:t>.</a:t>
            </a:r>
          </a:p>
        </p:txBody>
      </p:sp>
      <p:pic>
        <p:nvPicPr>
          <p:cNvPr id="3" name="Picture 2" descr="A black screen with white text&#10;&#10;AI-generated content may be incorrect.">
            <a:extLst>
              <a:ext uri="{FF2B5EF4-FFF2-40B4-BE49-F238E27FC236}">
                <a16:creationId xmlns:a16="http://schemas.microsoft.com/office/drawing/2014/main" id="{C8C97BCF-6F50-2D11-A30D-51AD21470A68}"/>
              </a:ext>
            </a:extLst>
          </p:cNvPr>
          <p:cNvPicPr>
            <a:picLocks noChangeAspect="1"/>
          </p:cNvPicPr>
          <p:nvPr/>
        </p:nvPicPr>
        <p:blipFill>
          <a:blip r:embed="rId2"/>
          <a:stretch>
            <a:fillRect/>
          </a:stretch>
        </p:blipFill>
        <p:spPr>
          <a:xfrm>
            <a:off x="1922077" y="3805073"/>
            <a:ext cx="7973483" cy="1539297"/>
          </a:xfrm>
          <a:prstGeom prst="rect">
            <a:avLst/>
          </a:prstGeom>
        </p:spPr>
      </p:pic>
    </p:spTree>
    <p:extLst>
      <p:ext uri="{BB962C8B-B14F-4D97-AF65-F5344CB8AC3E}">
        <p14:creationId xmlns:p14="http://schemas.microsoft.com/office/powerpoint/2010/main" val="3429333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30330-423C-CAB4-D42D-C2E121F0F190}"/>
              </a:ext>
            </a:extLst>
          </p:cNvPr>
          <p:cNvSpPr>
            <a:spLocks noGrp="1"/>
          </p:cNvSpPr>
          <p:nvPr>
            <p:ph type="title"/>
          </p:nvPr>
        </p:nvSpPr>
        <p:spPr>
          <a:xfrm>
            <a:off x="700635" y="922096"/>
            <a:ext cx="10691265" cy="1127930"/>
          </a:xfrm>
        </p:spPr>
        <p:txBody>
          <a:bodyPr anchor="t">
            <a:normAutofit/>
          </a:bodyPr>
          <a:lstStyle/>
          <a:p>
            <a:r>
              <a:rPr lang="en-US" sz="3700" b="1"/>
              <a:t>Linear Regression on Shopping Behavior Data</a:t>
            </a:r>
            <a:endParaRPr lang="en-US" sz="3700"/>
          </a:p>
          <a:p>
            <a:endParaRPr lang="en-US" sz="3700"/>
          </a:p>
        </p:txBody>
      </p:sp>
      <p:sp>
        <p:nvSpPr>
          <p:cNvPr id="5" name="Content Placeholder 4">
            <a:extLst>
              <a:ext uri="{FF2B5EF4-FFF2-40B4-BE49-F238E27FC236}">
                <a16:creationId xmlns:a16="http://schemas.microsoft.com/office/drawing/2014/main" id="{2DEBF130-DF04-43F9-448F-C11EC371AE04}"/>
              </a:ext>
            </a:extLst>
          </p:cNvPr>
          <p:cNvSpPr>
            <a:spLocks noGrp="1"/>
          </p:cNvSpPr>
          <p:nvPr>
            <p:ph sz="half" idx="1"/>
          </p:nvPr>
        </p:nvSpPr>
        <p:spPr>
          <a:xfrm>
            <a:off x="715383" y="2128684"/>
            <a:ext cx="5304417" cy="3844414"/>
          </a:xfrm>
        </p:spPr>
        <p:txBody>
          <a:bodyPr vert="horz" lIns="91440" tIns="45720" rIns="91440" bIns="45720" rtlCol="0" anchor="t">
            <a:normAutofit/>
          </a:bodyPr>
          <a:lstStyle/>
          <a:p>
            <a:pPr marL="0" indent="0">
              <a:buNone/>
            </a:pPr>
            <a:r>
              <a:rPr lang="en-US" dirty="0">
                <a:ea typeface="+mn-lt"/>
                <a:cs typeface="+mn-lt"/>
              </a:rPr>
              <a:t>The simple regression output indicates that there is no strong linear pattern between a customer’s previous purchases and their current spending amount. The trendline remains almost horizontal, and the points are spread in different directions. This shows that customers’ spending varies independently, suggesting that purchase amount is influenced by factors other than how many times they shopped before.</a:t>
            </a:r>
            <a:endParaRPr lang="en-US" dirty="0"/>
          </a:p>
        </p:txBody>
      </p:sp>
      <p:pic>
        <p:nvPicPr>
          <p:cNvPr id="10" name="Picture 9" descr="A diagram of a graph&#10;&#10;AI-generated content may be incorrect.">
            <a:extLst>
              <a:ext uri="{FF2B5EF4-FFF2-40B4-BE49-F238E27FC236}">
                <a16:creationId xmlns:a16="http://schemas.microsoft.com/office/drawing/2014/main" id="{C2F68333-AB49-2C95-B894-5C49B50EBAA4}"/>
              </a:ext>
            </a:extLst>
          </p:cNvPr>
          <p:cNvPicPr>
            <a:picLocks noChangeAspect="1"/>
          </p:cNvPicPr>
          <p:nvPr/>
        </p:nvPicPr>
        <p:blipFill>
          <a:blip r:embed="rId2"/>
          <a:stretch>
            <a:fillRect/>
          </a:stretch>
        </p:blipFill>
        <p:spPr>
          <a:xfrm>
            <a:off x="6341506" y="1713048"/>
            <a:ext cx="4805518" cy="3844414"/>
          </a:xfrm>
          <a:prstGeom prst="rect">
            <a:avLst/>
          </a:prstGeom>
          <a:noFill/>
        </p:spPr>
      </p:pic>
      <p:sp>
        <p:nvSpPr>
          <p:cNvPr id="15" name="Date Placeholder 4">
            <a:extLst>
              <a:ext uri="{FF2B5EF4-FFF2-40B4-BE49-F238E27FC236}">
                <a16:creationId xmlns:a16="http://schemas.microsoft.com/office/drawing/2014/main" id="{07474F5E-B05C-576B-2444-E3B07BC899DC}"/>
              </a:ext>
            </a:extLst>
          </p:cNvPr>
          <p:cNvSpPr>
            <a:spLocks noGrp="1"/>
          </p:cNvSpPr>
          <p:nvPr>
            <p:ph type="dt" sz="half" idx="10"/>
          </p:nvPr>
        </p:nvSpPr>
        <p:spPr>
          <a:xfrm>
            <a:off x="8369448" y="6356350"/>
            <a:ext cx="2592594" cy="365125"/>
          </a:xfrm>
        </p:spPr>
        <p:txBody>
          <a:bodyPr/>
          <a:lstStyle/>
          <a:p>
            <a:pPr>
              <a:spcAft>
                <a:spcPts val="600"/>
              </a:spcAft>
            </a:pPr>
            <a:fld id="{74968EAA-DE77-4774-B0F1-0EE5C4C12709}" type="datetime1">
              <a:pPr>
                <a:spcAft>
                  <a:spcPts val="600"/>
                </a:spcAft>
              </a:pPr>
              <a:t>11/21/2025</a:t>
            </a:fld>
            <a:endParaRPr lang="en-US"/>
          </a:p>
        </p:txBody>
      </p:sp>
      <p:sp>
        <p:nvSpPr>
          <p:cNvPr id="17" name="Footer Placeholder 5">
            <a:extLst>
              <a:ext uri="{FF2B5EF4-FFF2-40B4-BE49-F238E27FC236}">
                <a16:creationId xmlns:a16="http://schemas.microsoft.com/office/drawing/2014/main" id="{C008C69F-F575-A88F-8B66-B8087ABB97A8}"/>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Tree>
    <p:extLst>
      <p:ext uri="{BB962C8B-B14F-4D97-AF65-F5344CB8AC3E}">
        <p14:creationId xmlns:p14="http://schemas.microsoft.com/office/powerpoint/2010/main" val="3262850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83E2-9224-E305-DAF1-8496AF545B11}"/>
              </a:ext>
            </a:extLst>
          </p:cNvPr>
          <p:cNvSpPr>
            <a:spLocks noGrp="1"/>
          </p:cNvSpPr>
          <p:nvPr>
            <p:ph type="title"/>
          </p:nvPr>
        </p:nvSpPr>
        <p:spPr/>
        <p:txBody>
          <a:bodyPr>
            <a:normAutofit/>
          </a:bodyPr>
          <a:lstStyle/>
          <a:p>
            <a:r>
              <a:rPr lang="en-US" sz="3600" b="1">
                <a:ea typeface="+mj-lt"/>
                <a:cs typeface="+mj-lt"/>
              </a:rPr>
              <a:t>Intercept, Coefficient, and R² Score Overview</a:t>
            </a:r>
            <a:endParaRPr lang="en-US" sz="3600" b="1"/>
          </a:p>
        </p:txBody>
      </p:sp>
      <p:sp>
        <p:nvSpPr>
          <p:cNvPr id="3" name="Content Placeholder 2">
            <a:extLst>
              <a:ext uri="{FF2B5EF4-FFF2-40B4-BE49-F238E27FC236}">
                <a16:creationId xmlns:a16="http://schemas.microsoft.com/office/drawing/2014/main" id="{6FB8DDD2-26E0-998A-CBE0-AAA933BF10E3}"/>
              </a:ext>
            </a:extLst>
          </p:cNvPr>
          <p:cNvSpPr>
            <a:spLocks noGrp="1"/>
          </p:cNvSpPr>
          <p:nvPr>
            <p:ph idx="1"/>
          </p:nvPr>
        </p:nvSpPr>
        <p:spPr/>
        <p:txBody>
          <a:bodyPr vert="horz" lIns="91440" tIns="45720" rIns="91440" bIns="45720" rtlCol="0" anchor="t">
            <a:normAutofit/>
          </a:bodyPr>
          <a:lstStyle/>
          <a:p>
            <a:r>
              <a:rPr lang="en-US">
                <a:ea typeface="+mn-lt"/>
                <a:cs typeface="+mn-lt"/>
              </a:rPr>
              <a:t>From the </a:t>
            </a:r>
            <a:r>
              <a:rPr lang="en-US" b="1">
                <a:ea typeface="+mn-lt"/>
                <a:cs typeface="+mn-lt"/>
              </a:rPr>
              <a:t>Shopping Behavior dataset</a:t>
            </a:r>
            <a:r>
              <a:rPr lang="en-US">
                <a:ea typeface="+mn-lt"/>
                <a:cs typeface="+mn-lt"/>
              </a:rPr>
              <a:t>, the regression model results show that the intercept is about </a:t>
            </a:r>
            <a:r>
              <a:rPr lang="en-US" b="1">
                <a:ea typeface="+mn-lt"/>
                <a:cs typeface="+mn-lt"/>
              </a:rPr>
              <a:t>58</a:t>
            </a:r>
            <a:r>
              <a:rPr lang="en-US">
                <a:ea typeface="+mn-lt"/>
                <a:cs typeface="+mn-lt"/>
              </a:rPr>
              <a:t>, and the coefficient is only </a:t>
            </a:r>
            <a:r>
              <a:rPr lang="en-US" b="1">
                <a:ea typeface="+mn-lt"/>
                <a:cs typeface="+mn-lt"/>
              </a:rPr>
              <a:t>0.02</a:t>
            </a:r>
            <a:r>
              <a:rPr lang="en-US">
                <a:ea typeface="+mn-lt"/>
                <a:cs typeface="+mn-lt"/>
              </a:rPr>
              <a:t>, meaning that Previous Purchases have almost </a:t>
            </a:r>
            <a:r>
              <a:rPr lang="en-US" b="1">
                <a:ea typeface="+mn-lt"/>
                <a:cs typeface="+mn-lt"/>
              </a:rPr>
              <a:t>no effect</a:t>
            </a:r>
            <a:r>
              <a:rPr lang="en-US">
                <a:ea typeface="+mn-lt"/>
                <a:cs typeface="+mn-lt"/>
              </a:rPr>
              <a:t> on Purchase Amount. The R² score is </a:t>
            </a:r>
            <a:r>
              <a:rPr lang="en-US" b="1">
                <a:ea typeface="+mn-lt"/>
                <a:cs typeface="+mn-lt"/>
              </a:rPr>
              <a:t>0.0018</a:t>
            </a:r>
            <a:r>
              <a:rPr lang="en-US">
                <a:ea typeface="+mn-lt"/>
                <a:cs typeface="+mn-lt"/>
              </a:rPr>
              <a:t>, which is extremely low and confirms that the model cannot predict spending behavior well. Overall, the outputs show that Previous Purchases do </a:t>
            </a:r>
            <a:r>
              <a:rPr lang="en-US" b="1">
                <a:ea typeface="+mn-lt"/>
                <a:cs typeface="+mn-lt"/>
              </a:rPr>
              <a:t>not</a:t>
            </a:r>
            <a:r>
              <a:rPr lang="en-US">
                <a:ea typeface="+mn-lt"/>
                <a:cs typeface="+mn-lt"/>
              </a:rPr>
              <a:t> help explain or predict how much customers spend.</a:t>
            </a:r>
            <a:endParaRPr lang="en-US"/>
          </a:p>
          <a:p>
            <a:endParaRPr lang="en-US"/>
          </a:p>
        </p:txBody>
      </p:sp>
      <p:pic>
        <p:nvPicPr>
          <p:cNvPr id="4" name="Picture 3" descr="A black background with white text&#10;&#10;AI-generated content may be incorrect.">
            <a:extLst>
              <a:ext uri="{FF2B5EF4-FFF2-40B4-BE49-F238E27FC236}">
                <a16:creationId xmlns:a16="http://schemas.microsoft.com/office/drawing/2014/main" id="{BB9F98D2-B078-46E7-7E9F-D2F5E403C4BB}"/>
              </a:ext>
            </a:extLst>
          </p:cNvPr>
          <p:cNvPicPr>
            <a:picLocks noChangeAspect="1"/>
          </p:cNvPicPr>
          <p:nvPr/>
        </p:nvPicPr>
        <p:blipFill>
          <a:blip r:embed="rId2"/>
          <a:stretch>
            <a:fillRect/>
          </a:stretch>
        </p:blipFill>
        <p:spPr>
          <a:xfrm>
            <a:off x="532170" y="4850561"/>
            <a:ext cx="5372100" cy="952500"/>
          </a:xfrm>
          <a:prstGeom prst="rect">
            <a:avLst/>
          </a:prstGeom>
        </p:spPr>
      </p:pic>
      <p:pic>
        <p:nvPicPr>
          <p:cNvPr id="5" name="Picture 4" descr="A number on a black background&#10;&#10;AI-generated content may be incorrect.">
            <a:extLst>
              <a:ext uri="{FF2B5EF4-FFF2-40B4-BE49-F238E27FC236}">
                <a16:creationId xmlns:a16="http://schemas.microsoft.com/office/drawing/2014/main" id="{709EDEF2-DF61-5F29-BD60-D18E5FD0392C}"/>
              </a:ext>
            </a:extLst>
          </p:cNvPr>
          <p:cNvPicPr>
            <a:picLocks noChangeAspect="1"/>
          </p:cNvPicPr>
          <p:nvPr/>
        </p:nvPicPr>
        <p:blipFill>
          <a:blip r:embed="rId3"/>
          <a:stretch>
            <a:fillRect/>
          </a:stretch>
        </p:blipFill>
        <p:spPr>
          <a:xfrm>
            <a:off x="6470197" y="4966991"/>
            <a:ext cx="5372100" cy="723900"/>
          </a:xfrm>
          <a:prstGeom prst="rect">
            <a:avLst/>
          </a:prstGeom>
        </p:spPr>
      </p:pic>
      <p:sp>
        <p:nvSpPr>
          <p:cNvPr id="6" name="TextBox 5">
            <a:extLst>
              <a:ext uri="{FF2B5EF4-FFF2-40B4-BE49-F238E27FC236}">
                <a16:creationId xmlns:a16="http://schemas.microsoft.com/office/drawing/2014/main" id="{4ACC8605-6B1A-EC56-D032-1CD0B859F3B1}"/>
              </a:ext>
            </a:extLst>
          </p:cNvPr>
          <p:cNvSpPr txBox="1"/>
          <p:nvPr/>
        </p:nvSpPr>
        <p:spPr>
          <a:xfrm>
            <a:off x="534621" y="4543917"/>
            <a:ext cx="236457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u="sng">
                <a:latin typeface="Aptos"/>
              </a:rPr>
              <a:t>R² score:</a:t>
            </a:r>
            <a:endParaRPr lang="en-US" sz="1400" b="1" u="sng"/>
          </a:p>
        </p:txBody>
      </p:sp>
    </p:spTree>
    <p:extLst>
      <p:ext uri="{BB962C8B-B14F-4D97-AF65-F5344CB8AC3E}">
        <p14:creationId xmlns:p14="http://schemas.microsoft.com/office/powerpoint/2010/main" val="1533699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949EB-4807-24C9-96D6-AB44BED4549B}"/>
              </a:ext>
            </a:extLst>
          </p:cNvPr>
          <p:cNvSpPr>
            <a:spLocks noGrp="1"/>
          </p:cNvSpPr>
          <p:nvPr>
            <p:ph type="title"/>
          </p:nvPr>
        </p:nvSpPr>
        <p:spPr/>
        <p:txBody>
          <a:bodyPr>
            <a:normAutofit/>
          </a:bodyPr>
          <a:lstStyle/>
          <a:p>
            <a:r>
              <a:rPr lang="en-US" sz="3200" b="1" dirty="0"/>
              <a:t>Task 3 (10)</a:t>
            </a:r>
            <a:r>
              <a:rPr lang="en-US" sz="3200" b="1" dirty="0">
                <a:ea typeface="+mj-lt"/>
                <a:cs typeface="+mj-lt"/>
              </a:rPr>
              <a:t> Forecasting a Dependent Variable Using Multiple Linear Regression</a:t>
            </a:r>
            <a:endParaRPr lang="en-US" sz="3200" b="1" dirty="0"/>
          </a:p>
        </p:txBody>
      </p:sp>
      <p:sp>
        <p:nvSpPr>
          <p:cNvPr id="3" name="Content Placeholder 2">
            <a:extLst>
              <a:ext uri="{FF2B5EF4-FFF2-40B4-BE49-F238E27FC236}">
                <a16:creationId xmlns:a16="http://schemas.microsoft.com/office/drawing/2014/main" id="{0A605011-FFD8-13A4-F67D-0226E8C4776A}"/>
              </a:ext>
            </a:extLst>
          </p:cNvPr>
          <p:cNvSpPr>
            <a:spLocks noGrp="1"/>
          </p:cNvSpPr>
          <p:nvPr>
            <p:ph idx="1"/>
          </p:nvPr>
        </p:nvSpPr>
        <p:spPr>
          <a:xfrm>
            <a:off x="700635" y="2129003"/>
            <a:ext cx="10691265" cy="3636088"/>
          </a:xfrm>
        </p:spPr>
        <p:txBody>
          <a:bodyPr vert="horz" lIns="91440" tIns="45720" rIns="91440" bIns="45720" rtlCol="0" anchor="t">
            <a:normAutofit/>
          </a:bodyPr>
          <a:lstStyle/>
          <a:p>
            <a:pPr marL="0" indent="0">
              <a:buNone/>
            </a:pPr>
            <a:r>
              <a:rPr lang="en-US">
                <a:ea typeface="+mn-lt"/>
                <a:cs typeface="+mn-lt"/>
              </a:rPr>
              <a:t>The regression equation shows how three factors influence purchase amount:</a:t>
            </a:r>
            <a:endParaRPr lang="en-US"/>
          </a:p>
          <a:p>
            <a:pPr marL="0" indent="0">
              <a:buNone/>
            </a:pPr>
            <a:r>
              <a:rPr lang="en-US" b="1">
                <a:ea typeface="+mn-lt"/>
                <a:cs typeface="+mn-lt"/>
              </a:rPr>
              <a:t>Review Rating</a:t>
            </a:r>
            <a:r>
              <a:rPr lang="en-US">
                <a:ea typeface="+mn-lt"/>
                <a:cs typeface="+mn-lt"/>
              </a:rPr>
              <a:t> increases the purchase amount the most.</a:t>
            </a:r>
            <a:endParaRPr lang="en-US"/>
          </a:p>
          <a:p>
            <a:pPr marL="0" indent="0">
              <a:buNone/>
            </a:pPr>
            <a:r>
              <a:rPr lang="en-US" b="1">
                <a:ea typeface="+mn-lt"/>
                <a:cs typeface="+mn-lt"/>
              </a:rPr>
              <a:t>Age</a:t>
            </a:r>
            <a:r>
              <a:rPr lang="en-US">
                <a:ea typeface="+mn-lt"/>
                <a:cs typeface="+mn-lt"/>
              </a:rPr>
              <a:t> and </a:t>
            </a:r>
            <a:r>
              <a:rPr lang="en-US" b="1">
                <a:ea typeface="+mn-lt"/>
                <a:cs typeface="+mn-lt"/>
              </a:rPr>
              <a:t>Previous Purchases</a:t>
            </a:r>
            <a:r>
              <a:rPr lang="en-US">
                <a:ea typeface="+mn-lt"/>
                <a:cs typeface="+mn-lt"/>
              </a:rPr>
              <a:t> have very small effects.</a:t>
            </a:r>
            <a:endParaRPr lang="en-US"/>
          </a:p>
          <a:p>
            <a:pPr marL="0" indent="0">
              <a:buNone/>
            </a:pPr>
            <a:r>
              <a:rPr lang="en-US">
                <a:ea typeface="+mn-lt"/>
                <a:cs typeface="+mn-lt"/>
              </a:rPr>
              <a:t>The intercept (</a:t>
            </a:r>
            <a:r>
              <a:rPr lang="en-US" b="1">
                <a:ea typeface="+mn-lt"/>
                <a:cs typeface="+mn-lt"/>
              </a:rPr>
              <a:t>51.13</a:t>
            </a:r>
            <a:r>
              <a:rPr lang="en-US">
                <a:ea typeface="+mn-lt"/>
                <a:cs typeface="+mn-lt"/>
              </a:rPr>
              <a:t>) is the baseline predicted spending.</a:t>
            </a:r>
            <a:endParaRPr lang="en-US"/>
          </a:p>
          <a:p>
            <a:pPr marL="0" indent="0">
              <a:buNone/>
            </a:pPr>
            <a:r>
              <a:rPr lang="en-US">
                <a:ea typeface="+mn-lt"/>
                <a:cs typeface="+mn-lt"/>
              </a:rPr>
              <a:t>Overall, customers with higher review ratings are predicted to spend slightly more, while age and past purchases add only a small increase.</a:t>
            </a:r>
            <a:endParaRPr lang="en-US"/>
          </a:p>
          <a:p>
            <a:endParaRPr lang="en-US"/>
          </a:p>
        </p:txBody>
      </p:sp>
      <p:pic>
        <p:nvPicPr>
          <p:cNvPr id="6" name="Picture 5" descr="A black background with white text&#10;&#10;AI-generated content may be incorrect.">
            <a:extLst>
              <a:ext uri="{FF2B5EF4-FFF2-40B4-BE49-F238E27FC236}">
                <a16:creationId xmlns:a16="http://schemas.microsoft.com/office/drawing/2014/main" id="{1E394075-587F-A02A-143B-01B8BA4E66A9}"/>
              </a:ext>
            </a:extLst>
          </p:cNvPr>
          <p:cNvPicPr>
            <a:picLocks noChangeAspect="1"/>
          </p:cNvPicPr>
          <p:nvPr/>
        </p:nvPicPr>
        <p:blipFill>
          <a:blip r:embed="rId2"/>
          <a:stretch>
            <a:fillRect/>
          </a:stretch>
        </p:blipFill>
        <p:spPr>
          <a:xfrm>
            <a:off x="702816" y="5132484"/>
            <a:ext cx="10690195" cy="632013"/>
          </a:xfrm>
          <a:prstGeom prst="rect">
            <a:avLst/>
          </a:prstGeom>
        </p:spPr>
      </p:pic>
    </p:spTree>
    <p:extLst>
      <p:ext uri="{BB962C8B-B14F-4D97-AF65-F5344CB8AC3E}">
        <p14:creationId xmlns:p14="http://schemas.microsoft.com/office/powerpoint/2010/main" val="1707642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441E2-4C8D-8FE2-8877-6C285787EE5F}"/>
              </a:ext>
            </a:extLst>
          </p:cNvPr>
          <p:cNvSpPr>
            <a:spLocks noGrp="1"/>
          </p:cNvSpPr>
          <p:nvPr>
            <p:ph type="title"/>
          </p:nvPr>
        </p:nvSpPr>
        <p:spPr>
          <a:xfrm>
            <a:off x="700635" y="904778"/>
            <a:ext cx="10691265" cy="1371030"/>
          </a:xfrm>
        </p:spPr>
        <p:txBody>
          <a:bodyPr>
            <a:normAutofit/>
          </a:bodyPr>
          <a:lstStyle/>
          <a:p>
            <a:r>
              <a:rPr lang="en-US" sz="3200" b="1" dirty="0"/>
              <a:t>Evaluate Models using Confusion Matrix and Accuracy:</a:t>
            </a:r>
          </a:p>
        </p:txBody>
      </p:sp>
      <p:pic>
        <p:nvPicPr>
          <p:cNvPr id="7" name="Content Placeholder 6" descr="A screenshot of a computer&#10;&#10;AI-generated content may be incorrect.">
            <a:extLst>
              <a:ext uri="{FF2B5EF4-FFF2-40B4-BE49-F238E27FC236}">
                <a16:creationId xmlns:a16="http://schemas.microsoft.com/office/drawing/2014/main" id="{60ACEA34-DAB7-1006-B8A4-528404BD4029}"/>
              </a:ext>
            </a:extLst>
          </p:cNvPr>
          <p:cNvPicPr>
            <a:picLocks noGrp="1" noChangeAspect="1"/>
          </p:cNvPicPr>
          <p:nvPr>
            <p:ph idx="1"/>
          </p:nvPr>
        </p:nvPicPr>
        <p:blipFill>
          <a:blip r:embed="rId2"/>
          <a:stretch>
            <a:fillRect/>
          </a:stretch>
        </p:blipFill>
        <p:spPr>
          <a:xfrm>
            <a:off x="6911462" y="1712478"/>
            <a:ext cx="4483219" cy="4239936"/>
          </a:xfrm>
          <a:prstGeom prst="rect">
            <a:avLst/>
          </a:prstGeom>
        </p:spPr>
      </p:pic>
      <p:sp>
        <p:nvSpPr>
          <p:cNvPr id="4" name="Date Placeholder 3">
            <a:extLst>
              <a:ext uri="{FF2B5EF4-FFF2-40B4-BE49-F238E27FC236}">
                <a16:creationId xmlns:a16="http://schemas.microsoft.com/office/drawing/2014/main" id="{27106554-E658-043D-362D-04FBDA6E2D46}"/>
              </a:ext>
            </a:extLst>
          </p:cNvPr>
          <p:cNvSpPr>
            <a:spLocks noGrp="1"/>
          </p:cNvSpPr>
          <p:nvPr>
            <p:ph type="dt" sz="half" idx="10"/>
          </p:nvPr>
        </p:nvSpPr>
        <p:spPr/>
        <p:txBody>
          <a:bodyPr/>
          <a:lstStyle/>
          <a:p>
            <a:fld id="{AA069DB9-BD5F-4749-88B9-E353C9FBB00A}" type="datetime1">
              <a:t>11/21/2025</a:t>
            </a:fld>
            <a:endParaRPr lang="en-US"/>
          </a:p>
        </p:txBody>
      </p:sp>
      <p:sp>
        <p:nvSpPr>
          <p:cNvPr id="5" name="Footer Placeholder 4">
            <a:extLst>
              <a:ext uri="{FF2B5EF4-FFF2-40B4-BE49-F238E27FC236}">
                <a16:creationId xmlns:a16="http://schemas.microsoft.com/office/drawing/2014/main" id="{5F87E7E1-44F2-99F4-18CC-0C9D593626B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A3B5345-E7E1-794D-8F60-4028AFD84063}"/>
              </a:ext>
            </a:extLst>
          </p:cNvPr>
          <p:cNvSpPr>
            <a:spLocks noGrp="1"/>
          </p:cNvSpPr>
          <p:nvPr>
            <p:ph type="sldNum" sz="quarter" idx="12"/>
          </p:nvPr>
        </p:nvSpPr>
        <p:spPr/>
        <p:txBody>
          <a:bodyPr/>
          <a:lstStyle/>
          <a:p>
            <a:fld id="{E30AF5A0-43BB-4336-8627-9123B9144D80}" type="slidenum">
              <a:rPr lang="en-US" dirty="0"/>
              <a:t>19</a:t>
            </a:fld>
            <a:endParaRPr lang="en-US"/>
          </a:p>
        </p:txBody>
      </p:sp>
      <p:sp>
        <p:nvSpPr>
          <p:cNvPr id="8" name="TextBox 7">
            <a:extLst>
              <a:ext uri="{FF2B5EF4-FFF2-40B4-BE49-F238E27FC236}">
                <a16:creationId xmlns:a16="http://schemas.microsoft.com/office/drawing/2014/main" id="{A66CF817-24B7-C5D4-C49A-013C09394CB1}"/>
              </a:ext>
            </a:extLst>
          </p:cNvPr>
          <p:cNvSpPr txBox="1"/>
          <p:nvPr/>
        </p:nvSpPr>
        <p:spPr>
          <a:xfrm>
            <a:off x="476250" y="2156114"/>
            <a:ext cx="6096000" cy="33547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These outputs compare four models to see which one predicts better. Each confusion matrix shows how many predictions were correct or wrong. The accuracy score tells us how well each model performed. All models had similar results, but </a:t>
            </a:r>
            <a:r>
              <a:rPr lang="en-US" sz="2400" b="1" dirty="0">
                <a:ea typeface="+mn-lt"/>
                <a:cs typeface="+mn-lt"/>
              </a:rPr>
              <a:t>KNN had the highest accuracy</a:t>
            </a:r>
            <a:r>
              <a:rPr lang="en-US" sz="2400" dirty="0">
                <a:ea typeface="+mn-lt"/>
                <a:cs typeface="+mn-lt"/>
              </a:rPr>
              <a:t>, meaning it predicted the customer classes the best in this dataset.</a:t>
            </a:r>
            <a:endParaRPr lang="en-US" sz="2400" dirty="0"/>
          </a:p>
          <a:p>
            <a:endParaRPr lang="en-US" sz="2000">
              <a:cs typeface="Segoe UI"/>
            </a:endParaRPr>
          </a:p>
        </p:txBody>
      </p:sp>
    </p:spTree>
    <p:extLst>
      <p:ext uri="{BB962C8B-B14F-4D97-AF65-F5344CB8AC3E}">
        <p14:creationId xmlns:p14="http://schemas.microsoft.com/office/powerpoint/2010/main" val="2969267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8B1C5-1F9A-943D-AA32-9DFC45E41238}"/>
              </a:ext>
            </a:extLst>
          </p:cNvPr>
          <p:cNvSpPr>
            <a:spLocks noGrp="1"/>
          </p:cNvSpPr>
          <p:nvPr>
            <p:ph type="title"/>
          </p:nvPr>
        </p:nvSpPr>
        <p:spPr>
          <a:xfrm>
            <a:off x="700635" y="809528"/>
            <a:ext cx="11919342" cy="2473340"/>
          </a:xfrm>
        </p:spPr>
        <p:txBody>
          <a:bodyPr>
            <a:normAutofit/>
          </a:bodyPr>
          <a:lstStyle/>
          <a:p>
            <a:r>
              <a:rPr lang="en-US" sz="3600" b="1" dirty="0"/>
              <a:t>Task 3 (13) </a:t>
            </a:r>
            <a:r>
              <a:rPr lang="en-US" sz="3600" b="1" dirty="0">
                <a:ea typeface="+mj-lt"/>
                <a:cs typeface="+mj-lt"/>
              </a:rPr>
              <a:t>Prediction with Random Forest Model</a:t>
            </a:r>
          </a:p>
        </p:txBody>
      </p:sp>
      <p:sp>
        <p:nvSpPr>
          <p:cNvPr id="3" name="Content Placeholder 2">
            <a:extLst>
              <a:ext uri="{FF2B5EF4-FFF2-40B4-BE49-F238E27FC236}">
                <a16:creationId xmlns:a16="http://schemas.microsoft.com/office/drawing/2014/main" id="{D751C067-02DB-68EF-52EE-1BBBB8850A10}"/>
              </a:ext>
            </a:extLst>
          </p:cNvPr>
          <p:cNvSpPr>
            <a:spLocks noGrp="1"/>
          </p:cNvSpPr>
          <p:nvPr>
            <p:ph idx="1"/>
          </p:nvPr>
        </p:nvSpPr>
        <p:spPr>
          <a:xfrm>
            <a:off x="700635" y="1612168"/>
            <a:ext cx="10691265" cy="3636088"/>
          </a:xfrm>
        </p:spPr>
        <p:txBody>
          <a:bodyPr vert="horz" lIns="91440" tIns="45720" rIns="91440" bIns="45720" rtlCol="0" anchor="t">
            <a:normAutofit/>
          </a:bodyPr>
          <a:lstStyle/>
          <a:p>
            <a:pPr marL="0" indent="0">
              <a:buNone/>
            </a:pPr>
            <a:r>
              <a:rPr lang="en-US" dirty="0">
                <a:ea typeface="+mn-lt"/>
                <a:cs typeface="+mn-lt"/>
              </a:rPr>
              <a:t>The Random Forest model predicts whether a customer is a </a:t>
            </a:r>
            <a:r>
              <a:rPr lang="en-US" b="1" dirty="0">
                <a:ea typeface="+mn-lt"/>
                <a:cs typeface="+mn-lt"/>
              </a:rPr>
              <a:t>high</a:t>
            </a:r>
            <a:r>
              <a:rPr lang="en-US" dirty="0">
                <a:ea typeface="+mn-lt"/>
                <a:cs typeface="+mn-lt"/>
              </a:rPr>
              <a:t> or </a:t>
            </a:r>
            <a:r>
              <a:rPr lang="en-US" b="1" dirty="0">
                <a:ea typeface="+mn-lt"/>
                <a:cs typeface="+mn-lt"/>
              </a:rPr>
              <a:t>low</a:t>
            </a:r>
            <a:r>
              <a:rPr lang="en-US" dirty="0">
                <a:ea typeface="+mn-lt"/>
                <a:cs typeface="+mn-lt"/>
              </a:rPr>
              <a:t> spender. The labels are binary. Purchase amounts above the </a:t>
            </a:r>
            <a:r>
              <a:rPr lang="en-US" b="1" dirty="0">
                <a:ea typeface="+mn-lt"/>
                <a:cs typeface="+mn-lt"/>
              </a:rPr>
              <a:t>median</a:t>
            </a:r>
            <a:r>
              <a:rPr lang="en-US" dirty="0">
                <a:ea typeface="+mn-lt"/>
                <a:cs typeface="+mn-lt"/>
              </a:rPr>
              <a:t> are labeled </a:t>
            </a:r>
            <a:r>
              <a:rPr lang="en-US" b="1" dirty="0">
                <a:ea typeface="+mn-lt"/>
                <a:cs typeface="+mn-lt"/>
              </a:rPr>
              <a:t>1 (high) </a:t>
            </a:r>
            <a:r>
              <a:rPr lang="en-US" dirty="0">
                <a:ea typeface="+mn-lt"/>
                <a:cs typeface="+mn-lt"/>
              </a:rPr>
              <a:t>and amounts below are labeled </a:t>
            </a:r>
            <a:r>
              <a:rPr lang="en-US" b="1" dirty="0">
                <a:ea typeface="+mn-lt"/>
                <a:cs typeface="+mn-lt"/>
              </a:rPr>
              <a:t>0 (low)</a:t>
            </a:r>
            <a:r>
              <a:rPr lang="en-US">
                <a:ea typeface="+mn-lt"/>
                <a:cs typeface="+mn-lt"/>
              </a:rPr>
              <a:t>. The sample output shows that the model matches many of the spending categories.</a:t>
            </a:r>
            <a:endParaRPr lang="en-US"/>
          </a:p>
          <a:p>
            <a:pPr marL="0" indent="0">
              <a:buNone/>
            </a:pPr>
            <a:r>
              <a:rPr lang="en-US" dirty="0">
                <a:ea typeface="+mn-lt"/>
                <a:cs typeface="+mn-lt"/>
              </a:rPr>
              <a:t> Overall, the model performs well and captures the main spending patterns in our dataset.</a:t>
            </a:r>
            <a:endParaRPr lang="en-US"/>
          </a:p>
        </p:txBody>
      </p:sp>
      <p:pic>
        <p:nvPicPr>
          <p:cNvPr id="4" name="Picture 3" descr="A screen shot of a black screen&#10;&#10;AI-generated content may be incorrect.">
            <a:extLst>
              <a:ext uri="{FF2B5EF4-FFF2-40B4-BE49-F238E27FC236}">
                <a16:creationId xmlns:a16="http://schemas.microsoft.com/office/drawing/2014/main" id="{F85F32AB-65F1-1178-1C09-3B90158E5C07}"/>
              </a:ext>
            </a:extLst>
          </p:cNvPr>
          <p:cNvPicPr>
            <a:picLocks noChangeAspect="1"/>
          </p:cNvPicPr>
          <p:nvPr/>
        </p:nvPicPr>
        <p:blipFill>
          <a:blip r:embed="rId2"/>
          <a:stretch>
            <a:fillRect/>
          </a:stretch>
        </p:blipFill>
        <p:spPr>
          <a:xfrm>
            <a:off x="4794572" y="3530055"/>
            <a:ext cx="2598304" cy="2396066"/>
          </a:xfrm>
          <a:prstGeom prst="rect">
            <a:avLst/>
          </a:prstGeom>
        </p:spPr>
      </p:pic>
    </p:spTree>
    <p:extLst>
      <p:ext uri="{BB962C8B-B14F-4D97-AF65-F5344CB8AC3E}">
        <p14:creationId xmlns:p14="http://schemas.microsoft.com/office/powerpoint/2010/main" val="2745508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16C64-CEE6-4C16-72D2-D909792DA7FF}"/>
              </a:ext>
            </a:extLst>
          </p:cNvPr>
          <p:cNvSpPr>
            <a:spLocks noGrp="1"/>
          </p:cNvSpPr>
          <p:nvPr>
            <p:ph type="title"/>
          </p:nvPr>
        </p:nvSpPr>
        <p:spPr>
          <a:xfrm>
            <a:off x="604460" y="825921"/>
            <a:ext cx="10691265" cy="1371030"/>
          </a:xfrm>
        </p:spPr>
        <p:txBody>
          <a:bodyPr>
            <a:normAutofit/>
          </a:bodyPr>
          <a:lstStyle/>
          <a:p>
            <a:r>
              <a:rPr lang="en-US" sz="3200" b="1"/>
              <a:t>Hierarchical (Horizontal) Clustering:</a:t>
            </a:r>
          </a:p>
        </p:txBody>
      </p:sp>
      <p:pic>
        <p:nvPicPr>
          <p:cNvPr id="4" name="Content Placeholder 3" descr="A diagram of a number of clusters&#10;&#10;AI-generated content may be incorrect.">
            <a:extLst>
              <a:ext uri="{FF2B5EF4-FFF2-40B4-BE49-F238E27FC236}">
                <a16:creationId xmlns:a16="http://schemas.microsoft.com/office/drawing/2014/main" id="{3805EE2F-B331-0E77-621D-5451167C7B3A}"/>
              </a:ext>
            </a:extLst>
          </p:cNvPr>
          <p:cNvPicPr>
            <a:picLocks noGrp="1" noChangeAspect="1"/>
          </p:cNvPicPr>
          <p:nvPr>
            <p:ph idx="1"/>
          </p:nvPr>
        </p:nvPicPr>
        <p:blipFill>
          <a:blip r:embed="rId2"/>
          <a:stretch>
            <a:fillRect/>
          </a:stretch>
        </p:blipFill>
        <p:spPr>
          <a:xfrm>
            <a:off x="6434362" y="1383164"/>
            <a:ext cx="5213898" cy="4094767"/>
          </a:xfrm>
          <a:prstGeom prst="rect">
            <a:avLst/>
          </a:prstGeom>
        </p:spPr>
      </p:pic>
      <p:sp>
        <p:nvSpPr>
          <p:cNvPr id="5" name="TextBox 4">
            <a:extLst>
              <a:ext uri="{FF2B5EF4-FFF2-40B4-BE49-F238E27FC236}">
                <a16:creationId xmlns:a16="http://schemas.microsoft.com/office/drawing/2014/main" id="{057F0F1B-06DF-8102-8BE8-E94C34256A9A}"/>
              </a:ext>
            </a:extLst>
          </p:cNvPr>
          <p:cNvSpPr txBox="1"/>
          <p:nvPr/>
        </p:nvSpPr>
        <p:spPr>
          <a:xfrm>
            <a:off x="606640" y="1712650"/>
            <a:ext cx="5518952"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This chart shows how Hierarchical Clustering grouped customers into four clusters based on their </a:t>
            </a:r>
            <a:r>
              <a:rPr lang="en-US" sz="2400" b="1" dirty="0">
                <a:ea typeface="+mn-lt"/>
                <a:cs typeface="+mn-lt"/>
              </a:rPr>
              <a:t>Age</a:t>
            </a:r>
            <a:r>
              <a:rPr lang="en-US" sz="2400" dirty="0">
                <a:ea typeface="+mn-lt"/>
                <a:cs typeface="+mn-lt"/>
              </a:rPr>
              <a:t> and </a:t>
            </a:r>
            <a:r>
              <a:rPr lang="en-US" sz="2400" b="1" dirty="0">
                <a:ea typeface="+mn-lt"/>
                <a:cs typeface="+mn-lt"/>
              </a:rPr>
              <a:t>Purchase Amount</a:t>
            </a:r>
            <a:r>
              <a:rPr lang="en-US" sz="2400" dirty="0">
                <a:ea typeface="+mn-lt"/>
                <a:cs typeface="+mn-lt"/>
              </a:rPr>
              <a:t>. Each color represents a different group of customers who have similar ages and similar spending levels. It helps us see patterns in shopper behavior.</a:t>
            </a:r>
            <a:endParaRPr lang="en-US" sz="2400" dirty="0"/>
          </a:p>
        </p:txBody>
      </p:sp>
    </p:spTree>
    <p:extLst>
      <p:ext uri="{BB962C8B-B14F-4D97-AF65-F5344CB8AC3E}">
        <p14:creationId xmlns:p14="http://schemas.microsoft.com/office/powerpoint/2010/main" val="2865322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E6847-E503-7365-2CC8-78E1204549DB}"/>
              </a:ext>
            </a:extLst>
          </p:cNvPr>
          <p:cNvSpPr>
            <a:spLocks noGrp="1"/>
          </p:cNvSpPr>
          <p:nvPr>
            <p:ph type="title"/>
          </p:nvPr>
        </p:nvSpPr>
        <p:spPr>
          <a:xfrm>
            <a:off x="700635" y="922096"/>
            <a:ext cx="10691265" cy="1127930"/>
          </a:xfrm>
        </p:spPr>
        <p:txBody>
          <a:bodyPr anchor="t">
            <a:normAutofit/>
          </a:bodyPr>
          <a:lstStyle/>
          <a:p>
            <a:r>
              <a:rPr lang="en-US" b="1"/>
              <a:t>Hierarchical (Agglomerative) Clustering:</a:t>
            </a:r>
          </a:p>
        </p:txBody>
      </p:sp>
      <p:sp>
        <p:nvSpPr>
          <p:cNvPr id="9" name="Content Placeholder 2">
            <a:extLst>
              <a:ext uri="{FF2B5EF4-FFF2-40B4-BE49-F238E27FC236}">
                <a16:creationId xmlns:a16="http://schemas.microsoft.com/office/drawing/2014/main" id="{6082E420-3FD4-AC58-380D-019D8F2E5B9C}"/>
              </a:ext>
            </a:extLst>
          </p:cNvPr>
          <p:cNvSpPr>
            <a:spLocks noGrp="1"/>
          </p:cNvSpPr>
          <p:nvPr>
            <p:ph sz="half" idx="1"/>
          </p:nvPr>
        </p:nvSpPr>
        <p:spPr>
          <a:xfrm>
            <a:off x="715383" y="2128684"/>
            <a:ext cx="5304417" cy="3844414"/>
          </a:xfrm>
        </p:spPr>
        <p:txBody>
          <a:bodyPr vert="horz" lIns="91440" tIns="45720" rIns="91440" bIns="45720" rtlCol="0" anchor="t">
            <a:normAutofit/>
          </a:bodyPr>
          <a:lstStyle/>
          <a:p>
            <a:pPr marL="0" indent="0">
              <a:buNone/>
            </a:pPr>
            <a:r>
              <a:rPr lang="en-US">
                <a:ea typeface="+mn-lt"/>
                <a:cs typeface="+mn-lt"/>
              </a:rPr>
              <a:t>This dendrogram shows how Hierarchical Clustering grouped customers based on their </a:t>
            </a:r>
            <a:r>
              <a:rPr lang="en-US" b="1">
                <a:ea typeface="+mn-lt"/>
                <a:cs typeface="+mn-lt"/>
              </a:rPr>
              <a:t>Purchase Amount</a:t>
            </a:r>
            <a:r>
              <a:rPr lang="en-US">
                <a:ea typeface="+mn-lt"/>
                <a:cs typeface="+mn-lt"/>
              </a:rPr>
              <a:t> and </a:t>
            </a:r>
            <a:r>
              <a:rPr lang="en-US" b="1">
                <a:ea typeface="+mn-lt"/>
                <a:cs typeface="+mn-lt"/>
              </a:rPr>
              <a:t>Age</a:t>
            </a:r>
            <a:r>
              <a:rPr lang="en-US">
                <a:ea typeface="+mn-lt"/>
                <a:cs typeface="+mn-lt"/>
              </a:rPr>
              <a:t>. The branches show which customers are similar, clusters that join at lower heights are more alike. This helps us see how many natural customer groups exist in the shopping behavior dataset.</a:t>
            </a:r>
            <a:endParaRPr lang="en-US"/>
          </a:p>
        </p:txBody>
      </p:sp>
      <p:pic>
        <p:nvPicPr>
          <p:cNvPr id="7" name="Content Placeholder 6" descr="A diagram of a clustering structure&#10;&#10;AI-generated content may be incorrect.">
            <a:extLst>
              <a:ext uri="{FF2B5EF4-FFF2-40B4-BE49-F238E27FC236}">
                <a16:creationId xmlns:a16="http://schemas.microsoft.com/office/drawing/2014/main" id="{66030DA5-007A-E67F-F25E-B34070830DC2}"/>
              </a:ext>
            </a:extLst>
          </p:cNvPr>
          <p:cNvPicPr>
            <a:picLocks noGrp="1" noChangeAspect="1"/>
          </p:cNvPicPr>
          <p:nvPr>
            <p:ph sz="half" idx="2"/>
          </p:nvPr>
        </p:nvPicPr>
        <p:blipFill>
          <a:blip r:embed="rId2"/>
          <a:stretch>
            <a:fillRect/>
          </a:stretch>
        </p:blipFill>
        <p:spPr>
          <a:xfrm>
            <a:off x="6172200" y="2277596"/>
            <a:ext cx="5219700" cy="2909981"/>
          </a:xfrm>
          <a:prstGeom prst="rect">
            <a:avLst/>
          </a:prstGeom>
          <a:noFill/>
        </p:spPr>
      </p:pic>
      <p:sp>
        <p:nvSpPr>
          <p:cNvPr id="11" name="Date Placeholder 4">
            <a:extLst>
              <a:ext uri="{FF2B5EF4-FFF2-40B4-BE49-F238E27FC236}">
                <a16:creationId xmlns:a16="http://schemas.microsoft.com/office/drawing/2014/main" id="{4E2603CB-A94A-BB0F-3434-71D111E8686B}"/>
              </a:ext>
            </a:extLst>
          </p:cNvPr>
          <p:cNvSpPr>
            <a:spLocks noGrp="1"/>
          </p:cNvSpPr>
          <p:nvPr>
            <p:ph type="dt" sz="half" idx="10"/>
          </p:nvPr>
        </p:nvSpPr>
        <p:spPr>
          <a:xfrm>
            <a:off x="8369448" y="6356350"/>
            <a:ext cx="2592594" cy="365125"/>
          </a:xfrm>
        </p:spPr>
        <p:txBody>
          <a:bodyPr anchor="ctr">
            <a:normAutofit/>
          </a:bodyPr>
          <a:lstStyle/>
          <a:p>
            <a:pPr>
              <a:spcAft>
                <a:spcPts val="600"/>
              </a:spcAft>
            </a:pPr>
            <a:fld id="{865EDDF4-BBA5-4AC3-B52C-D6C2D70C7F3E}" type="datetime1">
              <a:rPr lang="en-US"/>
              <a:pPr>
                <a:spcAft>
                  <a:spcPts val="600"/>
                </a:spcAft>
              </a:pPr>
              <a:t>11/21/2025</a:t>
            </a:fld>
            <a:endParaRPr lang="en-US"/>
          </a:p>
        </p:txBody>
      </p:sp>
      <p:sp>
        <p:nvSpPr>
          <p:cNvPr id="13" name="Footer Placeholder 5">
            <a:extLst>
              <a:ext uri="{FF2B5EF4-FFF2-40B4-BE49-F238E27FC236}">
                <a16:creationId xmlns:a16="http://schemas.microsoft.com/office/drawing/2014/main" id="{3483D11B-C06D-C616-DED8-EACFDC2FE17C}"/>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a:t>
              </a:t>
            </a:r>
          </a:p>
        </p:txBody>
      </p:sp>
      <p:sp>
        <p:nvSpPr>
          <p:cNvPr id="15" name="Slide Number Placeholder 6">
            <a:extLst>
              <a:ext uri="{FF2B5EF4-FFF2-40B4-BE49-F238E27FC236}">
                <a16:creationId xmlns:a16="http://schemas.microsoft.com/office/drawing/2014/main" id="{682A232F-8D77-2188-408A-80B8D4BA34CC}"/>
              </a:ext>
            </a:extLst>
          </p:cNvPr>
          <p:cNvSpPr>
            <a:spLocks noGrp="1"/>
          </p:cNvSpPr>
          <p:nvPr>
            <p:ph type="sldNum" sz="quarter" idx="12"/>
          </p:nvPr>
        </p:nvSpPr>
        <p:spPr>
          <a:xfrm>
            <a:off x="10919012" y="6356350"/>
            <a:ext cx="672354" cy="365125"/>
          </a:xfrm>
        </p:spPr>
        <p:txBody>
          <a:bodyPr anchor="ctr">
            <a:normAutofit/>
          </a:bodyPr>
          <a:lstStyle/>
          <a:p>
            <a:pPr>
              <a:lnSpc>
                <a:spcPct val="90000"/>
              </a:lnSpc>
              <a:spcAft>
                <a:spcPts val="600"/>
              </a:spcAft>
            </a:pPr>
            <a:fld id="{E30AF5A0-43BB-4336-8627-9123B9144D80}" type="slidenum">
              <a:rPr lang="en-US" dirty="0"/>
              <a:pPr>
                <a:lnSpc>
                  <a:spcPct val="90000"/>
                </a:lnSpc>
                <a:spcAft>
                  <a:spcPts val="600"/>
                </a:spcAft>
              </a:pPr>
              <a:t>22</a:t>
            </a:fld>
            <a:endParaRPr lang="en-US"/>
          </a:p>
        </p:txBody>
      </p:sp>
    </p:spTree>
    <p:extLst>
      <p:ext uri="{BB962C8B-B14F-4D97-AF65-F5344CB8AC3E}">
        <p14:creationId xmlns:p14="http://schemas.microsoft.com/office/powerpoint/2010/main" val="2964017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FFFD92A-6E03-E492-B76A-C64B27C37624}"/>
              </a:ext>
            </a:extLst>
          </p:cNvPr>
          <p:cNvSpPr>
            <a:spLocks noGrp="1"/>
          </p:cNvSpPr>
          <p:nvPr>
            <p:ph type="title"/>
          </p:nvPr>
        </p:nvSpPr>
        <p:spPr>
          <a:xfrm>
            <a:off x="748863" y="999261"/>
            <a:ext cx="10691265" cy="1127930"/>
          </a:xfrm>
        </p:spPr>
        <p:txBody>
          <a:bodyPr/>
          <a:lstStyle/>
          <a:p>
            <a:r>
              <a:rPr lang="en-US" b="1">
                <a:ea typeface="+mj-lt"/>
                <a:cs typeface="+mj-lt"/>
              </a:rPr>
              <a:t>K-Means Clustering Results</a:t>
            </a:r>
            <a:endParaRPr lang="en-US"/>
          </a:p>
        </p:txBody>
      </p:sp>
      <p:sp>
        <p:nvSpPr>
          <p:cNvPr id="11" name="Content Placeholder 2">
            <a:extLst>
              <a:ext uri="{FF2B5EF4-FFF2-40B4-BE49-F238E27FC236}">
                <a16:creationId xmlns:a16="http://schemas.microsoft.com/office/drawing/2014/main" id="{652F9FD0-07FE-8874-EB99-6B7071F6FCC3}"/>
              </a:ext>
            </a:extLst>
          </p:cNvPr>
          <p:cNvSpPr>
            <a:spLocks noGrp="1"/>
          </p:cNvSpPr>
          <p:nvPr>
            <p:ph sz="half" idx="1"/>
          </p:nvPr>
        </p:nvSpPr>
        <p:spPr>
          <a:xfrm>
            <a:off x="715383" y="2128684"/>
            <a:ext cx="5304417" cy="3844414"/>
          </a:xfrm>
        </p:spPr>
        <p:txBody>
          <a:bodyPr vert="horz" lIns="91440" tIns="45720" rIns="91440" bIns="45720" rtlCol="0" anchor="t">
            <a:normAutofit/>
          </a:bodyPr>
          <a:lstStyle/>
          <a:p>
            <a:pPr marL="0" indent="0">
              <a:buNone/>
            </a:pPr>
            <a:r>
              <a:rPr lang="en-US">
                <a:ea typeface="+mn-lt"/>
                <a:cs typeface="+mn-lt"/>
              </a:rPr>
              <a:t>This K-Means chart shows how customers were grouped into four clusters based on </a:t>
            </a:r>
            <a:r>
              <a:rPr lang="en-US" b="1">
                <a:ea typeface="+mn-lt"/>
                <a:cs typeface="+mn-lt"/>
              </a:rPr>
              <a:t>Age</a:t>
            </a:r>
            <a:r>
              <a:rPr lang="en-US">
                <a:ea typeface="+mn-lt"/>
                <a:cs typeface="+mn-lt"/>
              </a:rPr>
              <a:t> and </a:t>
            </a:r>
            <a:r>
              <a:rPr lang="en-US" b="1">
                <a:ea typeface="+mn-lt"/>
                <a:cs typeface="+mn-lt"/>
              </a:rPr>
              <a:t>Purchase Amount</a:t>
            </a:r>
            <a:r>
              <a:rPr lang="en-US">
                <a:ea typeface="+mn-lt"/>
                <a:cs typeface="+mn-lt"/>
              </a:rPr>
              <a:t>. Each color represents a different group of customers with similar shopping behavior. The large yellow circles are the </a:t>
            </a:r>
            <a:r>
              <a:rPr lang="en-US" b="1">
                <a:ea typeface="+mn-lt"/>
                <a:cs typeface="+mn-lt"/>
              </a:rPr>
              <a:t>centroids</a:t>
            </a:r>
            <a:r>
              <a:rPr lang="en-US">
                <a:ea typeface="+mn-lt"/>
                <a:cs typeface="+mn-lt"/>
              </a:rPr>
              <a:t>, which represent the center of each cluster. This output helps us see patterns, such as groups of younger high spenders, older moderate spenders, or younger low spenders inside the shopping behavior dataset.</a:t>
            </a:r>
            <a:endParaRPr lang="en-US"/>
          </a:p>
          <a:p>
            <a:endParaRPr lang="en-US"/>
          </a:p>
        </p:txBody>
      </p:sp>
      <p:pic>
        <p:nvPicPr>
          <p:cNvPr id="4" name="Content Placeholder 3" descr="A screen shot of a graph&#10;&#10;AI-generated content may be incorrect.">
            <a:extLst>
              <a:ext uri="{FF2B5EF4-FFF2-40B4-BE49-F238E27FC236}">
                <a16:creationId xmlns:a16="http://schemas.microsoft.com/office/drawing/2014/main" id="{590EA3BD-DBBA-7E21-44AA-92622BD491D9}"/>
              </a:ext>
            </a:extLst>
          </p:cNvPr>
          <p:cNvPicPr>
            <a:picLocks noGrp="1" noChangeAspect="1"/>
          </p:cNvPicPr>
          <p:nvPr>
            <p:ph sz="half" idx="2"/>
          </p:nvPr>
        </p:nvPicPr>
        <p:blipFill>
          <a:blip r:embed="rId2"/>
          <a:srcRect r="-2" b="11261"/>
          <a:stretch>
            <a:fillRect/>
          </a:stretch>
        </p:blipFill>
        <p:spPr>
          <a:xfrm>
            <a:off x="6172200" y="2128684"/>
            <a:ext cx="5219700" cy="3844414"/>
          </a:xfrm>
          <a:prstGeom prst="rect">
            <a:avLst/>
          </a:prstGeom>
          <a:noFill/>
        </p:spPr>
      </p:pic>
      <p:sp>
        <p:nvSpPr>
          <p:cNvPr id="13" name="Date Placeholder 4">
            <a:extLst>
              <a:ext uri="{FF2B5EF4-FFF2-40B4-BE49-F238E27FC236}">
                <a16:creationId xmlns:a16="http://schemas.microsoft.com/office/drawing/2014/main" id="{62F5734C-4EF9-45B8-958D-A47884324723}"/>
              </a:ext>
            </a:extLst>
          </p:cNvPr>
          <p:cNvSpPr>
            <a:spLocks noGrp="1"/>
          </p:cNvSpPr>
          <p:nvPr>
            <p:ph type="dt" sz="half" idx="10"/>
          </p:nvPr>
        </p:nvSpPr>
        <p:spPr>
          <a:xfrm>
            <a:off x="8369448" y="6356350"/>
            <a:ext cx="2592594" cy="365125"/>
          </a:xfrm>
        </p:spPr>
        <p:txBody>
          <a:bodyPr/>
          <a:lstStyle/>
          <a:p>
            <a:pPr>
              <a:spcAft>
                <a:spcPts val="600"/>
              </a:spcAft>
            </a:pPr>
            <a:fld id="{CA35C39C-6E29-449D-8AD9-099DCFF319B1}" type="datetime1">
              <a:pPr>
                <a:spcAft>
                  <a:spcPts val="600"/>
                </a:spcAft>
              </a:pPr>
              <a:t>11/21/2025</a:t>
            </a:fld>
            <a:endParaRPr lang="en-US"/>
          </a:p>
        </p:txBody>
      </p:sp>
      <p:sp>
        <p:nvSpPr>
          <p:cNvPr id="15" name="Footer Placeholder 5">
            <a:extLst>
              <a:ext uri="{FF2B5EF4-FFF2-40B4-BE49-F238E27FC236}">
                <a16:creationId xmlns:a16="http://schemas.microsoft.com/office/drawing/2014/main" id="{E1EE7714-472F-38E0-A95E-AA302E48539A}"/>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
        <p:nvSpPr>
          <p:cNvPr id="17" name="Slide Number Placeholder 6">
            <a:extLst>
              <a:ext uri="{FF2B5EF4-FFF2-40B4-BE49-F238E27FC236}">
                <a16:creationId xmlns:a16="http://schemas.microsoft.com/office/drawing/2014/main" id="{57073833-CABF-B923-8A02-346B5A6A68B0}"/>
              </a:ext>
            </a:extLst>
          </p:cNvPr>
          <p:cNvSpPr>
            <a:spLocks noGrp="1"/>
          </p:cNvSpPr>
          <p:nvPr>
            <p:ph type="sldNum" sz="quarter" idx="12"/>
          </p:nvPr>
        </p:nvSpPr>
        <p:spPr>
          <a:xfrm>
            <a:off x="10919012" y="6356350"/>
            <a:ext cx="672354" cy="365125"/>
          </a:xfrm>
        </p:spPr>
        <p:txBody>
          <a:bodyPr/>
          <a:lstStyle/>
          <a:p>
            <a:pPr>
              <a:spcAft>
                <a:spcPts val="600"/>
              </a:spcAft>
            </a:pPr>
            <a:fld id="{E30AF5A0-43BB-4336-8627-9123B9144D80}" type="slidenum">
              <a:rPr lang="en-US" dirty="0"/>
              <a:pPr>
                <a:spcAft>
                  <a:spcPts val="600"/>
                </a:spcAft>
              </a:pPr>
              <a:t>23</a:t>
            </a:fld>
            <a:endParaRPr lang="en-US"/>
          </a:p>
        </p:txBody>
      </p:sp>
    </p:spTree>
    <p:extLst>
      <p:ext uri="{BB962C8B-B14F-4D97-AF65-F5344CB8AC3E}">
        <p14:creationId xmlns:p14="http://schemas.microsoft.com/office/powerpoint/2010/main" val="1848260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1CFA-A13D-ACDB-9799-8F0D501FAE60}"/>
              </a:ext>
            </a:extLst>
          </p:cNvPr>
          <p:cNvSpPr>
            <a:spLocks noGrp="1"/>
          </p:cNvSpPr>
          <p:nvPr>
            <p:ph type="title"/>
          </p:nvPr>
        </p:nvSpPr>
        <p:spPr>
          <a:xfrm>
            <a:off x="700635" y="922096"/>
            <a:ext cx="10691265" cy="1127930"/>
          </a:xfrm>
        </p:spPr>
        <p:txBody>
          <a:bodyPr anchor="t">
            <a:normAutofit/>
          </a:bodyPr>
          <a:lstStyle/>
          <a:p>
            <a:r>
              <a:rPr lang="en-US" b="1"/>
              <a:t>Elbow Method for Optimal K</a:t>
            </a:r>
          </a:p>
        </p:txBody>
      </p:sp>
      <p:sp>
        <p:nvSpPr>
          <p:cNvPr id="9" name="Content Placeholder 2">
            <a:extLst>
              <a:ext uri="{FF2B5EF4-FFF2-40B4-BE49-F238E27FC236}">
                <a16:creationId xmlns:a16="http://schemas.microsoft.com/office/drawing/2014/main" id="{57AF70A0-857B-CDA9-3CF9-3586C74CEB55}"/>
              </a:ext>
            </a:extLst>
          </p:cNvPr>
          <p:cNvSpPr>
            <a:spLocks noGrp="1"/>
          </p:cNvSpPr>
          <p:nvPr>
            <p:ph sz="half" idx="1"/>
          </p:nvPr>
        </p:nvSpPr>
        <p:spPr>
          <a:xfrm>
            <a:off x="715383" y="2128684"/>
            <a:ext cx="5304417" cy="3844414"/>
          </a:xfrm>
        </p:spPr>
        <p:txBody>
          <a:bodyPr vert="horz" lIns="91440" tIns="45720" rIns="91440" bIns="45720" rtlCol="0" anchor="t">
            <a:normAutofit/>
          </a:bodyPr>
          <a:lstStyle/>
          <a:p>
            <a:pPr marL="0" indent="0">
              <a:buNone/>
            </a:pPr>
            <a:r>
              <a:rPr lang="en-US">
                <a:ea typeface="+mn-lt"/>
                <a:cs typeface="+mn-lt"/>
              </a:rPr>
              <a:t>This graph shows the </a:t>
            </a:r>
            <a:r>
              <a:rPr lang="en-US" b="1">
                <a:ea typeface="+mn-lt"/>
                <a:cs typeface="+mn-lt"/>
              </a:rPr>
              <a:t>Elbow Method</a:t>
            </a:r>
            <a:r>
              <a:rPr lang="en-US">
                <a:ea typeface="+mn-lt"/>
                <a:cs typeface="+mn-lt"/>
              </a:rPr>
              <a:t>, which helps us choose the best number of clusters for K-Means. As the number of clusters (k) increases, the curve drops quickly at first and then starts to flatten. The “elbow point” around </a:t>
            </a:r>
            <a:r>
              <a:rPr lang="en-US" b="1">
                <a:ea typeface="+mn-lt"/>
                <a:cs typeface="+mn-lt"/>
              </a:rPr>
              <a:t>k = 4</a:t>
            </a:r>
            <a:r>
              <a:rPr lang="en-US">
                <a:ea typeface="+mn-lt"/>
                <a:cs typeface="+mn-lt"/>
              </a:rPr>
              <a:t> shows the best balance, meaning </a:t>
            </a:r>
            <a:r>
              <a:rPr lang="en-US" b="1">
                <a:ea typeface="+mn-lt"/>
                <a:cs typeface="+mn-lt"/>
              </a:rPr>
              <a:t>4 clusters</a:t>
            </a:r>
            <a:r>
              <a:rPr lang="en-US">
                <a:ea typeface="+mn-lt"/>
                <a:cs typeface="+mn-lt"/>
              </a:rPr>
              <a:t> is the optimal choice for grouping customers based on Age and Purchase Amount.</a:t>
            </a:r>
            <a:endParaRPr lang="en-US"/>
          </a:p>
        </p:txBody>
      </p:sp>
      <p:pic>
        <p:nvPicPr>
          <p:cNvPr id="4" name="Content Placeholder 3" descr="A graph of a line&#10;&#10;AI-generated content may be incorrect.">
            <a:extLst>
              <a:ext uri="{FF2B5EF4-FFF2-40B4-BE49-F238E27FC236}">
                <a16:creationId xmlns:a16="http://schemas.microsoft.com/office/drawing/2014/main" id="{4368F705-7FC0-1BD8-2170-CB19CDC36A41}"/>
              </a:ext>
            </a:extLst>
          </p:cNvPr>
          <p:cNvPicPr>
            <a:picLocks noGrp="1" noChangeAspect="1"/>
          </p:cNvPicPr>
          <p:nvPr>
            <p:ph sz="half" idx="2"/>
          </p:nvPr>
        </p:nvPicPr>
        <p:blipFill>
          <a:blip r:embed="rId2"/>
          <a:stretch>
            <a:fillRect/>
          </a:stretch>
        </p:blipFill>
        <p:spPr>
          <a:xfrm>
            <a:off x="6285677" y="2128684"/>
            <a:ext cx="4992746" cy="3844414"/>
          </a:xfrm>
          <a:prstGeom prst="rect">
            <a:avLst/>
          </a:prstGeom>
          <a:noFill/>
        </p:spPr>
      </p:pic>
      <p:sp>
        <p:nvSpPr>
          <p:cNvPr id="11" name="Date Placeholder 4">
            <a:extLst>
              <a:ext uri="{FF2B5EF4-FFF2-40B4-BE49-F238E27FC236}">
                <a16:creationId xmlns:a16="http://schemas.microsoft.com/office/drawing/2014/main" id="{47102638-3CD7-D711-1851-5D873BF1777A}"/>
              </a:ext>
            </a:extLst>
          </p:cNvPr>
          <p:cNvSpPr>
            <a:spLocks noGrp="1"/>
          </p:cNvSpPr>
          <p:nvPr>
            <p:ph type="dt" sz="half" idx="10"/>
          </p:nvPr>
        </p:nvSpPr>
        <p:spPr>
          <a:xfrm>
            <a:off x="8369448" y="6356350"/>
            <a:ext cx="2592594" cy="365125"/>
          </a:xfrm>
        </p:spPr>
        <p:txBody>
          <a:bodyPr/>
          <a:lstStyle/>
          <a:p>
            <a:pPr>
              <a:spcAft>
                <a:spcPts val="600"/>
              </a:spcAft>
            </a:pPr>
            <a:fld id="{CD213703-B316-4879-BA05-9F64AB2705F4}" type="datetime1">
              <a:pPr>
                <a:spcAft>
                  <a:spcPts val="600"/>
                </a:spcAft>
              </a:pPr>
              <a:t>11/21/2025</a:t>
            </a:fld>
            <a:endParaRPr lang="en-US"/>
          </a:p>
        </p:txBody>
      </p:sp>
      <p:sp>
        <p:nvSpPr>
          <p:cNvPr id="13" name="Footer Placeholder 5">
            <a:extLst>
              <a:ext uri="{FF2B5EF4-FFF2-40B4-BE49-F238E27FC236}">
                <a16:creationId xmlns:a16="http://schemas.microsoft.com/office/drawing/2014/main" id="{1E983998-4004-0959-34B5-DBCE12D19354}"/>
              </a:ext>
            </a:extLst>
          </p:cNvPr>
          <p:cNvSpPr>
            <a:spLocks noGrp="1"/>
          </p:cNvSpPr>
          <p:nvPr>
            <p:ph type="ftr" sz="quarter" idx="11"/>
          </p:nvPr>
        </p:nvSpPr>
        <p:spPr>
          <a:xfrm>
            <a:off x="715383" y="6356350"/>
            <a:ext cx="4539727" cy="365125"/>
          </a:xfrm>
        </p:spPr>
        <p:txBody>
          <a:bodyPr/>
          <a:lstStyle/>
          <a:p>
            <a:pPr>
              <a:spcAft>
                <a:spcPts val="600"/>
              </a:spcAft>
            </a:pPr>
            <a:r>
              <a:rPr lang="en-US"/>
              <a:t>
              </a:t>
            </a:r>
          </a:p>
        </p:txBody>
      </p:sp>
      <p:sp>
        <p:nvSpPr>
          <p:cNvPr id="15" name="Slide Number Placeholder 6">
            <a:extLst>
              <a:ext uri="{FF2B5EF4-FFF2-40B4-BE49-F238E27FC236}">
                <a16:creationId xmlns:a16="http://schemas.microsoft.com/office/drawing/2014/main" id="{59E890F5-45B1-93F5-71DA-A2991F723CBD}"/>
              </a:ext>
            </a:extLst>
          </p:cNvPr>
          <p:cNvSpPr>
            <a:spLocks noGrp="1"/>
          </p:cNvSpPr>
          <p:nvPr>
            <p:ph type="sldNum" sz="quarter" idx="12"/>
          </p:nvPr>
        </p:nvSpPr>
        <p:spPr>
          <a:xfrm>
            <a:off x="10919012" y="6356350"/>
            <a:ext cx="672354" cy="365125"/>
          </a:xfrm>
        </p:spPr>
        <p:txBody>
          <a:bodyPr/>
          <a:lstStyle/>
          <a:p>
            <a:pPr>
              <a:spcAft>
                <a:spcPts val="600"/>
              </a:spcAft>
            </a:pPr>
            <a:fld id="{E30AF5A0-43BB-4336-8627-9123B9144D80}" type="slidenum">
              <a:rPr lang="en-US" dirty="0"/>
              <a:pPr>
                <a:spcAft>
                  <a:spcPts val="600"/>
                </a:spcAft>
              </a:pPr>
              <a:t>24</a:t>
            </a:fld>
            <a:endParaRPr lang="en-US"/>
          </a:p>
        </p:txBody>
      </p:sp>
    </p:spTree>
    <p:extLst>
      <p:ext uri="{BB962C8B-B14F-4D97-AF65-F5344CB8AC3E}">
        <p14:creationId xmlns:p14="http://schemas.microsoft.com/office/powerpoint/2010/main" val="3239262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71DE7-1AF0-9A89-9B4C-5F128CFE43CB}"/>
              </a:ext>
            </a:extLst>
          </p:cNvPr>
          <p:cNvSpPr>
            <a:spLocks noGrp="1"/>
          </p:cNvSpPr>
          <p:nvPr>
            <p:ph type="title"/>
          </p:nvPr>
        </p:nvSpPr>
        <p:spPr/>
        <p:txBody>
          <a:bodyPr>
            <a:normAutofit fontScale="90000"/>
          </a:bodyPr>
          <a:lstStyle/>
          <a:p>
            <a:r>
              <a:rPr lang="en-US" b="1" dirty="0">
                <a:ea typeface="+mj-lt"/>
                <a:cs typeface="+mj-lt"/>
              </a:rPr>
              <a:t>Strategy for Improving  the System After Analyzing  the Clusters</a:t>
            </a:r>
            <a:endParaRPr lang="en-US" dirty="0"/>
          </a:p>
          <a:p>
            <a:br>
              <a:rPr lang="en-US" dirty="0"/>
            </a:br>
            <a:endParaRPr lang="en-US"/>
          </a:p>
          <a:p>
            <a:endParaRPr lang="en-US"/>
          </a:p>
        </p:txBody>
      </p:sp>
      <p:sp>
        <p:nvSpPr>
          <p:cNvPr id="3" name="Content Placeholder 2">
            <a:extLst>
              <a:ext uri="{FF2B5EF4-FFF2-40B4-BE49-F238E27FC236}">
                <a16:creationId xmlns:a16="http://schemas.microsoft.com/office/drawing/2014/main" id="{E6C3E350-0176-D403-D03F-984F8F486D23}"/>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After viewing the cluster diagram, we can see that customers fall into four clear groups based on their age and spending. To improve the system, we can give each group personalized offers—for example, rewards for high spenders and discounts for lower spenders. Collecting more data like income or shopping frequency can make the clusters even more accurate. We can also use machine-learning models to predict customer behavior and automatically place new customers into the right cluster for better decision making.</a:t>
            </a:r>
            <a:endParaRPr lang="en-US"/>
          </a:p>
          <a:p>
            <a:endParaRPr lang="en-US"/>
          </a:p>
        </p:txBody>
      </p:sp>
    </p:spTree>
    <p:extLst>
      <p:ext uri="{BB962C8B-B14F-4D97-AF65-F5344CB8AC3E}">
        <p14:creationId xmlns:p14="http://schemas.microsoft.com/office/powerpoint/2010/main" val="1360698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A9A99-BC5D-38F0-F816-92777C0D7650}"/>
              </a:ext>
            </a:extLst>
          </p:cNvPr>
          <p:cNvSpPr>
            <a:spLocks noGrp="1"/>
          </p:cNvSpPr>
          <p:nvPr>
            <p:ph type="title"/>
          </p:nvPr>
        </p:nvSpPr>
        <p:spPr>
          <a:xfrm>
            <a:off x="903192" y="2619717"/>
            <a:ext cx="10691265" cy="1371030"/>
          </a:xfrm>
        </p:spPr>
        <p:txBody>
          <a:bodyPr>
            <a:noAutofit/>
          </a:bodyPr>
          <a:lstStyle/>
          <a:p>
            <a:pPr algn="ctr"/>
            <a:r>
              <a:rPr lang="en-US" sz="8800" b="1"/>
              <a:t>THANK  YOU </a:t>
            </a:r>
          </a:p>
        </p:txBody>
      </p:sp>
      <p:sp>
        <p:nvSpPr>
          <p:cNvPr id="4" name="Date Placeholder 3">
            <a:extLst>
              <a:ext uri="{FF2B5EF4-FFF2-40B4-BE49-F238E27FC236}">
                <a16:creationId xmlns:a16="http://schemas.microsoft.com/office/drawing/2014/main" id="{02AD6C36-DC46-E1BC-960F-78AA0B2EF40E}"/>
              </a:ext>
            </a:extLst>
          </p:cNvPr>
          <p:cNvSpPr>
            <a:spLocks noGrp="1"/>
          </p:cNvSpPr>
          <p:nvPr>
            <p:ph type="dt" sz="half" idx="10"/>
          </p:nvPr>
        </p:nvSpPr>
        <p:spPr/>
        <p:txBody>
          <a:bodyPr/>
          <a:lstStyle/>
          <a:p>
            <a:fld id="{AD25E7BB-FCDF-4B29-BF38-CC483FC8C6F7}" type="datetime1">
              <a:t>11/21/2025</a:t>
            </a:fld>
            <a:endParaRPr lang="en-US"/>
          </a:p>
        </p:txBody>
      </p:sp>
      <p:sp>
        <p:nvSpPr>
          <p:cNvPr id="5" name="Footer Placeholder 4">
            <a:extLst>
              <a:ext uri="{FF2B5EF4-FFF2-40B4-BE49-F238E27FC236}">
                <a16:creationId xmlns:a16="http://schemas.microsoft.com/office/drawing/2014/main" id="{786B5C6E-B7FD-B59F-2276-D782E8CAC66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FA4330F-DC40-6B1B-C783-F3BF1B16848C}"/>
              </a:ext>
            </a:extLst>
          </p:cNvPr>
          <p:cNvSpPr>
            <a:spLocks noGrp="1"/>
          </p:cNvSpPr>
          <p:nvPr>
            <p:ph type="sldNum" sz="quarter" idx="12"/>
          </p:nvPr>
        </p:nvSpPr>
        <p:spPr/>
        <p:txBody>
          <a:bodyPr/>
          <a:lstStyle/>
          <a:p>
            <a:fld id="{E30AF5A0-43BB-4336-8627-9123B9144D80}" type="slidenum">
              <a:rPr lang="en-US" dirty="0"/>
              <a:t>26</a:t>
            </a:fld>
            <a:endParaRPr lang="en-US"/>
          </a:p>
        </p:txBody>
      </p:sp>
    </p:spTree>
    <p:extLst>
      <p:ext uri="{BB962C8B-B14F-4D97-AF65-F5344CB8AC3E}">
        <p14:creationId xmlns:p14="http://schemas.microsoft.com/office/powerpoint/2010/main" val="677990920"/>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26</Slides>
  <Notes>0</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ChronicleVTI</vt:lpstr>
      <vt:lpstr>Shopping Behavior data-set </vt:lpstr>
      <vt:lpstr>Purpose of Analyzing  the Shopping Behavior Dataset:  </vt:lpstr>
      <vt:lpstr>Using python for data analysis: </vt:lpstr>
      <vt:lpstr>Independent &amp; Dependent Variables  </vt:lpstr>
      <vt:lpstr>Sampling:  Type &amp; Justification </vt:lpstr>
      <vt:lpstr>   Descriptive Statistics Function for  the Shopping Behavior Dataset </vt:lpstr>
      <vt:lpstr>Descriptive Statistics for a Random Sample of 150 Customers </vt:lpstr>
      <vt:lpstr>Systematic Sampling of Customers and Purchase Analysis </vt:lpstr>
      <vt:lpstr>TASK 2 (5): DESCRIPTIVE ANALYTICS</vt:lpstr>
      <vt:lpstr>TASK 2 (6): SCATTER PLOT</vt:lpstr>
      <vt:lpstr>TASK 2 (6): box PLOT</vt:lpstr>
      <vt:lpstr>TASK 2 (6): histogram</vt:lpstr>
      <vt:lpstr>TASK 2 (6): Correlation Heatmap (numeric)</vt:lpstr>
      <vt:lpstr>Hypothesis  Test Conclusion:</vt:lpstr>
      <vt:lpstr>Task 2 (8) One-Sample  T-Test Using  the Population Mean from  the Full Dataset</vt:lpstr>
      <vt:lpstr>Linear Regression on Shopping Behavior Data </vt:lpstr>
      <vt:lpstr>Intercept, Coefficient, and R² Score Overview</vt:lpstr>
      <vt:lpstr>Task 3 (10) Forecasting a Dependent Variable Using Multiple Linear Regression</vt:lpstr>
      <vt:lpstr>Evaluate Models using Confusion Matrix and Accuracy:</vt:lpstr>
      <vt:lpstr>Task 3 (13) Prediction with Random Forest Model</vt:lpstr>
      <vt:lpstr>Hierarchical (Horizontal) Clustering:</vt:lpstr>
      <vt:lpstr>Hierarchical (Agglomerative) Clustering:</vt:lpstr>
      <vt:lpstr>K-Means Clustering Results</vt:lpstr>
      <vt:lpstr>Elbow Method for Optimal K</vt:lpstr>
      <vt:lpstr>Strategy for Improving  the System After Analyzing  the Clusters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99</cp:revision>
  <dcterms:created xsi:type="dcterms:W3CDTF">2025-11-17T19:28:58Z</dcterms:created>
  <dcterms:modified xsi:type="dcterms:W3CDTF">2025-11-21T13:49:48Z</dcterms:modified>
</cp:coreProperties>
</file>